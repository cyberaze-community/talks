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762000" y="660400"/>
            <a:ext cx="508000" cy="63500"/>
          </a:xfrm>
          <a:prstGeom prst="rect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762000" y="8890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29AB1"/>
                </a:solidFill>
                <a:latin typeface="MiSans"/>
                <a:ea typeface="MiSans"/>
              </a:rPr>
              <a:t>KIBERTƏHLÜKƏSİZLİK VƏ AI SİSTEMLƏRİ · TƏQDİMAT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762000" y="1397000"/>
            <a:ext cx="7112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4200" b="1">
                <a:solidFill>
                  <a:srgbClr val="102A43"/>
                </a:solidFill>
                <a:latin typeface="MiSans"/>
                <a:ea typeface="MiSans"/>
              </a:rPr>
              <a:t>Prompt Engineering-dən</a:t>
            </a:r>
            <a:r>
              <a:rPr lang="en-US" sz="4200" b="1">
                <a:solidFill>
                  <a:srgbClr val="102A43"/>
                </a:solidFill>
                <a:latin typeface="MiSans"/>
                <a:ea typeface="MiSans"/>
              </a:rPr>
              <a:t>Agent Sistemlərinə</a:t>
            </a:r>
            <a:endParaRPr lang="en-US" sz="4200"/>
          </a:p>
        </p:txBody>
      </p:sp>
      <p:sp>
        <p:nvSpPr>
          <p:cNvPr id="5" name="sub"/>
          <p:cNvSpPr txBox="1"/>
          <p:nvPr/>
        </p:nvSpPr>
        <p:spPr>
          <a:xfrm>
            <a:off x="762000" y="3403600"/>
            <a:ext cx="6858000" cy="1054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rgbClr val="334E68"/>
                </a:solidFill>
                <a:latin typeface="MiSans"/>
                <a:ea typeface="MiSans"/>
              </a:rPr>
              <a:t>Context Engineering, Tool Calling, MCP və Harness arxitekturası — süni intellektin real dünyaya qoşulması haqqında</a:t>
            </a:r>
            <a:endParaRPr lang="en-US" sz="1600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4470400"/>
            <a:ext cx="6096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7" name="speaker"/>
          <p:cNvSpPr txBox="1"/>
          <p:nvPr/>
        </p:nvSpPr>
        <p:spPr>
          <a:xfrm>
            <a:off x="762000" y="4724400"/>
            <a:ext cx="609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Fərid Akifzadə</a:t>
            </a:r>
            <a:endParaRPr lang="en-US" sz="1300"/>
          </a:p>
          <a:p>
            <a:pPr>
              <a:lnSpc>
                <a:spcPct val="160000"/>
              </a:lnSpc>
            </a:pPr>
            <a:r>
              <a:rPr lang="en-US" sz="1300">
                <a:solidFill>
                  <a:srgbClr val="829AB1"/>
                </a:solidFill>
                <a:latin typeface="MiSans"/>
                <a:ea typeface="MiSans"/>
              </a:rPr>
              <a:t>6 il kibertəhlükəsizlik təcrübəsi · OSCP · OSED · OSEE</a:t>
            </a:r>
            <a:endParaRPr lang="en-US" sz="1300"/>
          </a:p>
        </p:txBody>
      </p:sp>
      <p:sp>
        <p:nvSpPr>
          <p:cNvPr id="8" name="circleL"/>
          <p:cNvSpPr/>
          <p:nvPr/>
        </p:nvSpPr>
        <p:spPr>
          <a:xfrm>
            <a:off x="8128000" y="1524000"/>
            <a:ext cx="2794000" cy="2794000"/>
          </a:xfrm>
          <a:prstGeom prst="ellipse">
            <a:avLst/>
          </a:prstGeom>
          <a:solidFill>
            <a:srgbClr val="243B53">
              <a:alpha val="5098"/>
            </a:srgbClr>
          </a:solidFill>
          <a:ln>
            <a:noFill/>
          </a:ln>
        </p:spPr>
      </p:sp>
      <p:sp>
        <p:nvSpPr>
          <p:cNvPr id="9" name="circleInk"/>
          <p:cNvSpPr/>
          <p:nvPr/>
        </p:nvSpPr>
        <p:spPr>
          <a:xfrm>
            <a:off x="9652000" y="3683000"/>
            <a:ext cx="1397000" cy="1397000"/>
          </a:xfrm>
          <a:prstGeom prst="ellipse">
            <a:avLst/>
          </a:prstGeom>
          <a:solidFill>
            <a:srgbClr val="243B53"/>
          </a:solidFill>
          <a:ln>
            <a:noFill/>
          </a:ln>
        </p:spPr>
      </p:sp>
      <p:sp>
        <p:nvSpPr>
          <p:cNvPr id="10" name="circleYel"/>
          <p:cNvSpPr/>
          <p:nvPr/>
        </p:nvSpPr>
        <p:spPr>
          <a:xfrm>
            <a:off x="8890000" y="2540000"/>
            <a:ext cx="889000" cy="889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1" name="lblA"/>
          <p:cNvSpPr txBox="1"/>
          <p:nvPr/>
        </p:nvSpPr>
        <p:spPr>
          <a:xfrm>
            <a:off x="9652000" y="52070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agent</a:t>
            </a:r>
            <a:endParaRPr lang="en-US" sz="1100"/>
          </a:p>
        </p:txBody>
      </p:sp>
      <p:sp>
        <p:nvSpPr>
          <p:cNvPr id="12" name="lblB"/>
          <p:cNvSpPr txBox="1"/>
          <p:nvPr/>
        </p:nvSpPr>
        <p:spPr>
          <a:xfrm>
            <a:off x="8483600" y="35306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context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TARİXÇƏ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GPT-3-dən Context Engineering-ə qısa yol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02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n0"/>
          <p:cNvSpPr txBox="1"/>
          <p:nvPr/>
        </p:nvSpPr>
        <p:spPr>
          <a:xfrm>
            <a:off x="762000" y="2032000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01</a:t>
            </a:r>
            <a:endParaRPr lang="en-US" sz="1300"/>
          </a:p>
        </p:txBody>
      </p:sp>
      <p:sp>
        <p:nvSpPr>
          <p:cNvPr id="7" name="dot0"/>
          <p:cNvSpPr/>
          <p:nvPr/>
        </p:nvSpPr>
        <p:spPr>
          <a:xfrm>
            <a:off x="787400" y="20574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8" name="h0"/>
          <p:cNvSpPr txBox="1"/>
          <p:nvPr/>
        </p:nvSpPr>
        <p:spPr>
          <a:xfrm>
            <a:off x="1117600" y="2006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GPT-3 dövrü</a:t>
            </a:r>
            <a:endParaRPr lang="en-US" sz="1500"/>
          </a:p>
        </p:txBody>
      </p:sp>
      <p:sp>
        <p:nvSpPr>
          <p:cNvPr id="9" name="b0"/>
          <p:cNvSpPr txBox="1"/>
          <p:nvPr/>
        </p:nvSpPr>
        <p:spPr>
          <a:xfrm>
            <a:off x="1117600" y="22860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Sadə prompt–cavab mexanizmi hökm sürürdü; səhvlər tez-tez baş verirdi.</a:t>
            </a:r>
            <a:endParaRPr lang="en-US" sz="1300"/>
          </a:p>
        </p:txBody>
      </p:sp>
      <p:sp>
        <p:nvSpPr>
          <p:cNvPr id="10" name="n1"/>
          <p:cNvSpPr txBox="1"/>
          <p:nvPr/>
        </p:nvSpPr>
        <p:spPr>
          <a:xfrm>
            <a:off x="762000" y="2870200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02</a:t>
            </a:r>
            <a:endParaRPr lang="en-US" sz="1300"/>
          </a:p>
        </p:txBody>
      </p:sp>
      <p:sp>
        <p:nvSpPr>
          <p:cNvPr id="11" name="dot1"/>
          <p:cNvSpPr/>
          <p:nvPr/>
        </p:nvSpPr>
        <p:spPr>
          <a:xfrm>
            <a:off x="787400" y="28956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2" name="h1"/>
          <p:cNvSpPr txBox="1"/>
          <p:nvPr/>
        </p:nvSpPr>
        <p:spPr>
          <a:xfrm>
            <a:off x="1117600" y="28448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Əsas addım</a:t>
            </a:r>
            <a:endParaRPr lang="en-US" sz="1500"/>
          </a:p>
        </p:txBody>
      </p:sp>
      <p:sp>
        <p:nvSpPr>
          <p:cNvPr id="13" name="b1"/>
          <p:cNvSpPr txBox="1"/>
          <p:nvPr/>
        </p:nvSpPr>
        <p:spPr>
          <a:xfrm>
            <a:off x="1117600" y="31242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Söhbətin kontekstini saxlayıb növbəti cavabları ona uyğun qurmaq.</a:t>
            </a:r>
            <a:endParaRPr lang="en-US" sz="1300"/>
          </a:p>
        </p:txBody>
      </p:sp>
      <p:sp>
        <p:nvSpPr>
          <p:cNvPr id="14" name="n2"/>
          <p:cNvSpPr txBox="1"/>
          <p:nvPr/>
        </p:nvSpPr>
        <p:spPr>
          <a:xfrm>
            <a:off x="762000" y="3708400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03</a:t>
            </a:r>
            <a:endParaRPr lang="en-US" sz="1300"/>
          </a:p>
        </p:txBody>
      </p:sp>
      <p:sp>
        <p:nvSpPr>
          <p:cNvPr id="15" name="dot2"/>
          <p:cNvSpPr/>
          <p:nvPr/>
        </p:nvSpPr>
        <p:spPr>
          <a:xfrm>
            <a:off x="787400" y="37338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6" name="h2"/>
          <p:cNvSpPr txBox="1"/>
          <p:nvPr/>
        </p:nvSpPr>
        <p:spPr>
          <a:xfrm>
            <a:off x="1117600" y="3683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Prompt Engineering</a:t>
            </a:r>
            <a:endParaRPr lang="en-US" sz="1500"/>
          </a:p>
        </p:txBody>
      </p:sp>
      <p:sp>
        <p:nvSpPr>
          <p:cNvPr id="17" name="b2"/>
          <p:cNvSpPr txBox="1"/>
          <p:nvPr/>
        </p:nvSpPr>
        <p:spPr>
          <a:xfrm>
            <a:off x="1117600" y="39624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Daha dəqiq cavab üçün təlimatlar, nümunələr və üsullar yaranır.</a:t>
            </a:r>
            <a:endParaRPr lang="en-US" sz="1300"/>
          </a:p>
        </p:txBody>
      </p:sp>
      <p:sp>
        <p:nvSpPr>
          <p:cNvPr id="18" name="n3"/>
          <p:cNvSpPr txBox="1"/>
          <p:nvPr/>
        </p:nvSpPr>
        <p:spPr>
          <a:xfrm>
            <a:off x="762000" y="4546600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04</a:t>
            </a:r>
            <a:endParaRPr lang="en-US" sz="1300"/>
          </a:p>
        </p:txBody>
      </p:sp>
      <p:sp>
        <p:nvSpPr>
          <p:cNvPr id="19" name="dot3"/>
          <p:cNvSpPr/>
          <p:nvPr/>
        </p:nvSpPr>
        <p:spPr>
          <a:xfrm>
            <a:off x="787400" y="45720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20" name="h3"/>
          <p:cNvSpPr txBox="1"/>
          <p:nvPr/>
        </p:nvSpPr>
        <p:spPr>
          <a:xfrm>
            <a:off x="1117600" y="45212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Əsas qaydalar</a:t>
            </a:r>
            <a:endParaRPr lang="en-US" sz="1500"/>
          </a:p>
        </p:txBody>
      </p:sp>
      <p:sp>
        <p:nvSpPr>
          <p:cNvPr id="21" name="b3"/>
          <p:cNvSpPr txBox="1"/>
          <p:nvPr/>
        </p:nvSpPr>
        <p:spPr>
          <a:xfrm>
            <a:off x="1117600" y="48006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Mümkün qədər çox məlumat vermək, nümunələr göstərmək — bu gün də aktualdır.</a:t>
            </a:r>
            <a:endParaRPr lang="en-US" sz="1300"/>
          </a:p>
        </p:txBody>
      </p:sp>
      <p:sp>
        <p:nvSpPr>
          <p:cNvPr id="22" name="n4"/>
          <p:cNvSpPr txBox="1"/>
          <p:nvPr/>
        </p:nvSpPr>
        <p:spPr>
          <a:xfrm>
            <a:off x="762000" y="5384800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05</a:t>
            </a:r>
            <a:endParaRPr lang="en-US" sz="1300"/>
          </a:p>
        </p:txBody>
      </p:sp>
      <p:sp>
        <p:nvSpPr>
          <p:cNvPr id="23" name="dot4"/>
          <p:cNvSpPr/>
          <p:nvPr/>
        </p:nvSpPr>
        <p:spPr>
          <a:xfrm>
            <a:off x="787400" y="54102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24" name="h4"/>
          <p:cNvSpPr txBox="1"/>
          <p:nvPr/>
        </p:nvSpPr>
        <p:spPr>
          <a:xfrm>
            <a:off x="1117600" y="5359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Məhdudiyyət</a:t>
            </a:r>
            <a:endParaRPr lang="en-US" sz="1500"/>
          </a:p>
        </p:txBody>
      </p:sp>
      <p:sp>
        <p:nvSpPr>
          <p:cNvPr id="25" name="b4"/>
          <p:cNvSpPr txBox="1"/>
          <p:nvPr/>
        </p:nvSpPr>
        <p:spPr>
          <a:xfrm>
            <a:off x="1117600" y="56388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AI müstəqil sistem idi; xarici dünya ilə əlaqəsi demək olar ki, yox idi.</a:t>
            </a:r>
            <a:endParaRPr lang="en-US" sz="1300"/>
          </a:p>
        </p:txBody>
      </p:sp>
      <p:sp>
        <p:nvSpPr>
          <p:cNvPr id="26" name="note"/>
          <p:cNvSpPr txBox="1"/>
          <p:nvPr/>
        </p:nvSpPr>
        <p:spPr>
          <a:xfrm>
            <a:off x="8255000" y="2286000"/>
            <a:ext cx="3175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b="1">
                <a:solidFill>
                  <a:srgbClr val="334E68"/>
                </a:solidFill>
                <a:latin typeface="MiSans"/>
                <a:ea typeface="MiSans"/>
              </a:rPr>
              <a:t>İlin xətti:</a:t>
            </a:r>
            <a:endParaRPr lang="en-US" sz="1400"/>
          </a:p>
          <a:p>
            <a:pPr>
              <a:lnSpc>
                <a:spcPct val="155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Sadə prompt → kontekstə əsaslanan cavab → tool calling və agent sistemləri.</a:t>
            </a:r>
            <a:endParaRPr lang="en-US" sz="140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Hər mərhələ modelin xarici dünya ilə əlaqəsini bir az da gücləndirdi.</a:t>
            </a:r>
            <a:endParaRPr lang="en-US" sz="1400"/>
          </a:p>
        </p:txBody>
      </p:sp>
      <p:sp>
        <p:nvSpPr>
          <p:cNvPr id="27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28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02/25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YENİ DÖVR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Prompt Engineering-dən Context Engineering-ə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03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c0"/>
          <p:cNvSpPr/>
          <p:nvPr/>
        </p:nvSpPr>
        <p:spPr>
          <a:xfrm>
            <a:off x="762000" y="2413000"/>
            <a:ext cx="2286000" cy="1524000"/>
          </a:xfrm>
          <a:prstGeom prst="roundRect">
            <a:avLst>
              <a:gd name="adj" fmla="val 9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7" name="ch0"/>
          <p:cNvSpPr txBox="1"/>
          <p:nvPr/>
        </p:nvSpPr>
        <p:spPr>
          <a:xfrm>
            <a:off x="965200" y="2616200"/>
            <a:ext cx="1879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GPT-4 və yeni modellər</a:t>
            </a:r>
            <a:endParaRPr lang="en-US" sz="1400"/>
          </a:p>
        </p:txBody>
      </p:sp>
      <p:sp>
        <p:nvSpPr>
          <p:cNvPr id="8" name="cb0"/>
          <p:cNvSpPr txBox="1"/>
          <p:nvPr/>
        </p:nvSpPr>
        <p:spPr>
          <a:xfrm>
            <a:off x="965200" y="3225800"/>
            <a:ext cx="1879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>
                <a:solidFill>
                  <a:srgbClr val="334E68"/>
                </a:solidFill>
                <a:latin typeface="MiSans"/>
                <a:ea typeface="MiSans"/>
              </a:rPr>
              <a:t>Model öz-özlüyündə bağlı qalmır</a:t>
            </a:r>
            <a:endParaRPr lang="en-US" sz="1200"/>
          </a:p>
        </p:txBody>
      </p:sp>
      <p:sp>
        <p:nvSpPr>
          <p:cNvPr id="9" name="a0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3073400" y="3048000"/>
            <a:ext cx="304800" cy="2032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9050" cap="rnd">
            <a:solidFill>
              <a:srgbClr val="829AB1"/>
            </a:solidFill>
            <a:round/>
            <a:tailEnd type="arrow"/>
          </a:ln>
        </p:spPr>
      </p:sp>
      <p:sp>
        <p:nvSpPr>
          <p:cNvPr id="10" name="c1"/>
          <p:cNvSpPr/>
          <p:nvPr/>
        </p:nvSpPr>
        <p:spPr>
          <a:xfrm>
            <a:off x="3403600" y="2413000"/>
            <a:ext cx="2286000" cy="1524000"/>
          </a:xfrm>
          <a:prstGeom prst="roundRect">
            <a:avLst>
              <a:gd name="adj" fmla="val 9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1" name="ch1"/>
          <p:cNvSpPr txBox="1"/>
          <p:nvPr/>
        </p:nvSpPr>
        <p:spPr>
          <a:xfrm>
            <a:off x="3606800" y="2616200"/>
            <a:ext cx="1879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Tool Calling</a:t>
            </a:r>
            <a:endParaRPr lang="en-US" sz="1400"/>
          </a:p>
        </p:txBody>
      </p:sp>
      <p:sp>
        <p:nvSpPr>
          <p:cNvPr id="12" name="cb1"/>
          <p:cNvSpPr txBox="1"/>
          <p:nvPr/>
        </p:nvSpPr>
        <p:spPr>
          <a:xfrm>
            <a:off x="3606800" y="3225800"/>
            <a:ext cx="1879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>
                <a:solidFill>
                  <a:srgbClr val="334E68"/>
                </a:solidFill>
                <a:latin typeface="MiSans"/>
                <a:ea typeface="MiSans"/>
              </a:rPr>
              <a:t>Xarici sistemləri çağırmaq mexanizmi</a:t>
            </a:r>
            <a:endParaRPr lang="en-US" sz="1200"/>
          </a:p>
        </p:txBody>
      </p:sp>
      <p:sp>
        <p:nvSpPr>
          <p:cNvPr id="13" name="a1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5715000" y="3048000"/>
            <a:ext cx="304800" cy="2032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9050" cap="rnd">
            <a:solidFill>
              <a:srgbClr val="829AB1"/>
            </a:solidFill>
            <a:round/>
            <a:tailEnd type="arrow"/>
          </a:ln>
        </p:spPr>
      </p:sp>
      <p:sp>
        <p:nvSpPr>
          <p:cNvPr id="14" name="c2"/>
          <p:cNvSpPr/>
          <p:nvPr/>
        </p:nvSpPr>
        <p:spPr>
          <a:xfrm>
            <a:off x="6045200" y="2413000"/>
            <a:ext cx="2286000" cy="1524000"/>
          </a:xfrm>
          <a:prstGeom prst="roundRect">
            <a:avLst>
              <a:gd name="adj" fmla="val 9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5" name="ch2"/>
          <p:cNvSpPr txBox="1"/>
          <p:nvPr/>
        </p:nvSpPr>
        <p:spPr>
          <a:xfrm>
            <a:off x="6248400" y="2616200"/>
            <a:ext cx="1879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Agent sistemlər</a:t>
            </a:r>
            <a:endParaRPr lang="en-US" sz="1400"/>
          </a:p>
        </p:txBody>
      </p:sp>
      <p:sp>
        <p:nvSpPr>
          <p:cNvPr id="16" name="cb2"/>
          <p:cNvSpPr txBox="1"/>
          <p:nvPr/>
        </p:nvSpPr>
        <p:spPr>
          <a:xfrm>
            <a:off x="6248400" y="3225800"/>
            <a:ext cx="1879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>
                <a:solidFill>
                  <a:srgbClr val="334E68"/>
                </a:solidFill>
                <a:latin typeface="MiSans"/>
                <a:ea typeface="MiSans"/>
              </a:rPr>
              <a:t>Addımlara özü qərar verən ilkin agentlər</a:t>
            </a:r>
            <a:endParaRPr lang="en-US" sz="1200"/>
          </a:p>
        </p:txBody>
      </p:sp>
      <p:sp>
        <p:nvSpPr>
          <p:cNvPr id="17" name="a2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8356600" y="3048000"/>
            <a:ext cx="304800" cy="2032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9050" cap="rnd">
            <a:solidFill>
              <a:srgbClr val="829AB1"/>
            </a:solidFill>
            <a:round/>
            <a:tailEnd type="arrow"/>
          </a:ln>
        </p:spPr>
      </p:sp>
      <p:sp>
        <p:nvSpPr>
          <p:cNvPr id="18" name="c3"/>
          <p:cNvSpPr/>
          <p:nvPr/>
        </p:nvSpPr>
        <p:spPr>
          <a:xfrm>
            <a:off x="8686800" y="2413000"/>
            <a:ext cx="2286000" cy="1524000"/>
          </a:xfrm>
          <a:prstGeom prst="roundRect">
            <a:avLst>
              <a:gd name="adj" fmla="val 9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9" name="ch3"/>
          <p:cNvSpPr txBox="1"/>
          <p:nvPr/>
        </p:nvSpPr>
        <p:spPr>
          <a:xfrm>
            <a:off x="8890000" y="2616200"/>
            <a:ext cx="1879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Context Engineering</a:t>
            </a:r>
            <a:endParaRPr lang="en-US" sz="1400"/>
          </a:p>
        </p:txBody>
      </p:sp>
      <p:sp>
        <p:nvSpPr>
          <p:cNvPr id="20" name="cb3"/>
          <p:cNvSpPr txBox="1"/>
          <p:nvPr/>
        </p:nvSpPr>
        <p:spPr>
          <a:xfrm>
            <a:off x="8890000" y="3225800"/>
            <a:ext cx="1879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>
                <a:solidFill>
                  <a:srgbClr val="334E68"/>
                </a:solidFill>
                <a:latin typeface="MiSans"/>
                <a:ea typeface="MiSans"/>
              </a:rPr>
              <a:t>Konteksti idarə etmək yeni intizam</a:t>
            </a:r>
            <a:endParaRPr lang="en-US" sz="1200"/>
          </a:p>
        </p:txBody>
      </p:sp>
      <p:sp>
        <p:nvSpPr>
          <p:cNvPr id="21" name="hlbar"/>
          <p:cNvSpPr/>
          <p:nvPr/>
        </p:nvSpPr>
        <p:spPr>
          <a:xfrm>
            <a:off x="762000" y="4470400"/>
            <a:ext cx="50800" cy="508000"/>
          </a:xfrm>
          <a:prstGeom prst="rect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22" name="concl"/>
          <p:cNvSpPr txBox="1"/>
          <p:nvPr/>
        </p:nvSpPr>
        <p:spPr>
          <a:xfrm>
            <a:off x="965200" y="4470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Nəticə:</a:t>
            </a:r>
            <a:r>
              <a:rPr lang="en-US" sz="1500">
                <a:solidFill>
                  <a:srgbClr val="102A43"/>
                </a:solidFill>
                <a:latin typeface="MiSans"/>
                <a:ea typeface="MiSans"/>
              </a:rPr>
              <a:t> fokus tək promptdan modelə verilən bütün kontekstin idarə olunmasına keçir.</a:t>
            </a:r>
            <a:endParaRPr lang="en-US" sz="1500"/>
          </a:p>
        </p:txBody>
      </p:sp>
      <p:sp>
        <p:nvSpPr>
          <p:cNvPr id="23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24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03/25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ƏSAS ANLAYIŞ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Context nədir və nəyə görə önəmlidir?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04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defbar"/>
          <p:cNvSpPr/>
          <p:nvPr/>
        </p:nvSpPr>
        <p:spPr>
          <a:xfrm>
            <a:off x="762000" y="2006600"/>
            <a:ext cx="50800" cy="660400"/>
          </a:xfrm>
          <a:prstGeom prst="rect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7" name="def"/>
          <p:cNvSpPr txBox="1"/>
          <p:nvPr/>
        </p:nvSpPr>
        <p:spPr>
          <a:xfrm>
            <a:off x="965200" y="19812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b="1">
                <a:solidFill>
                  <a:srgbClr val="102A43"/>
                </a:solidFill>
                <a:latin typeface="MiSans"/>
                <a:ea typeface="MiSans"/>
              </a:rPr>
              <a:t>Context</a:t>
            </a:r>
            <a:r>
              <a:rPr lang="en-US" sz="1600">
                <a:solidFill>
                  <a:srgbClr val="102A43"/>
                </a:solidFill>
                <a:latin typeface="MiSans"/>
                <a:ea typeface="MiSans"/>
              </a:rPr>
              <a:t> — AI modelə input kimi göndərilən və modelin output kimi generate etdiyi hər şeyin cəmi: system prompt, user input, tool description-lar, icra olunmuş toolların nəticələri və s.</a:t>
            </a:r>
            <a:endParaRPr lang="en-US" sz="1600"/>
          </a:p>
        </p:txBody>
      </p:sp>
      <p:sp>
        <p:nvSpPr>
          <p:cNvPr id="8" name="why"/>
          <p:cNvSpPr txBox="1"/>
          <p:nvPr/>
        </p:nvSpPr>
        <p:spPr>
          <a:xfrm>
            <a:off x="762000" y="3048000"/>
            <a:ext cx="609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b="1">
                <a:solidFill>
                  <a:srgbClr val="334E68"/>
                </a:solidFill>
                <a:latin typeface="MiSans"/>
                <a:ea typeface="MiSans"/>
              </a:rPr>
              <a:t>Niyə önəmlidir?</a:t>
            </a:r>
            <a:endParaRPr lang="en-US" sz="1400"/>
          </a:p>
          <a:p>
            <a:pPr>
              <a:lnSpc>
                <a:spcPct val="155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Model bütün qərarlarını — hansı toolun çağrılacağı, hansı faylın oxunacağı — məhz context əsasında verir. Kontekst keyfiyyəti = qərar keyfiyyəti.</a:t>
            </a:r>
            <a:endParaRPr lang="en-US" sz="1400"/>
          </a:p>
        </p:txBody>
      </p:sp>
      <p:sp>
        <p:nvSpPr>
          <p:cNvPr id="9" name="q"/>
          <p:cNvSpPr txBox="1"/>
          <p:nvPr/>
        </p:nvSpPr>
        <p:spPr>
          <a:xfrm>
            <a:off x="7620000" y="3048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Sual:</a:t>
            </a:r>
            <a:r>
              <a:rPr lang="en-US" sz="1500">
                <a:solidFill>
                  <a:srgbClr val="102A43"/>
                </a:solidFill>
                <a:latin typeface="MiSans"/>
                <a:ea typeface="MiSans"/>
              </a:rPr>
              <a:t> Bəs hər şeyi contextə yığaq?</a:t>
            </a:r>
            <a:endParaRPr lang="en-US" sz="1500"/>
          </a:p>
        </p:txBody>
      </p:sp>
      <p:sp>
        <p:nvSpPr>
          <p:cNvPr id="10" name="ansbar"/>
          <p:cNvSpPr/>
          <p:nvPr/>
        </p:nvSpPr>
        <p:spPr>
          <a:xfrm>
            <a:off x="7620000" y="3759200"/>
            <a:ext cx="50800" cy="660400"/>
          </a:xfrm>
          <a:prstGeom prst="rect">
            <a:avLst/>
          </a:prstGeom>
          <a:solidFill>
            <a:srgbClr val="E98B73"/>
          </a:solidFill>
          <a:ln>
            <a:noFill/>
          </a:ln>
        </p:spPr>
      </p:sp>
      <p:sp>
        <p:nvSpPr>
          <p:cNvPr id="11" name="a"/>
          <p:cNvSpPr txBox="1"/>
          <p:nvPr/>
        </p:nvSpPr>
        <p:spPr>
          <a:xfrm>
            <a:off x="7772400" y="3759200"/>
            <a:ext cx="3657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400" b="1">
                <a:solidFill>
                  <a:srgbClr val="334E68"/>
                </a:solidFill>
                <a:latin typeface="MiSans"/>
                <a:ea typeface="MiSans"/>
              </a:rPr>
              <a:t>Cavab: Xeyr!</a:t>
            </a: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 İki əsas səbəb var — növbəti slaydda.</a:t>
            </a:r>
            <a:endParaRPr lang="en-US" sz="1400"/>
          </a:p>
        </p:txBody>
      </p:sp>
      <p:sp>
        <p:nvSpPr>
          <p:cNvPr id="12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3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04/25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MƏHDUDİYYƏTLƏR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Niyə «hər şeyi» contextə yığmaq olmur?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05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h1"/>
          <p:cNvSpPr txBox="1"/>
          <p:nvPr/>
        </p:nvSpPr>
        <p:spPr>
          <a:xfrm>
            <a:off x="762000" y="2032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02A43"/>
                </a:solidFill>
                <a:latin typeface="MiSans"/>
                <a:ea typeface="MiSans"/>
              </a:rPr>
              <a:t>1 · Hard limit</a:t>
            </a:r>
            <a:endParaRPr lang="en-US" sz="1700"/>
          </a:p>
        </p:txBody>
      </p:sp>
      <p:sp>
        <p:nvSpPr>
          <p:cNvPr id="7" name="b1"/>
          <p:cNvSpPr txBox="1"/>
          <p:nvPr/>
        </p:nvSpPr>
        <p:spPr>
          <a:xfrm>
            <a:off x="762000" y="2413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Hər modelin maksimum context həddi var. Modelin işləməsi üçün bu limit aşılmamalıdır — bu, fiziki məhdudiyyətdir.</a:t>
            </a:r>
            <a:endParaRPr lang="en-US" sz="1400"/>
          </a:p>
        </p:txBody>
      </p:sp>
      <p:sp>
        <p:nvSpPr>
          <p:cNvPr id="8" name="h2"/>
          <p:cNvSpPr txBox="1"/>
          <p:nvPr/>
        </p:nvSpPr>
        <p:spPr>
          <a:xfrm>
            <a:off x="762000" y="3454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02A43"/>
                </a:solidFill>
                <a:latin typeface="MiSans"/>
                <a:ea typeface="MiSans"/>
              </a:rPr>
              <a:t>2 · Keyfiyyət itkisi</a:t>
            </a:r>
            <a:endParaRPr lang="en-US" sz="1700"/>
          </a:p>
        </p:txBody>
      </p:sp>
      <p:sp>
        <p:nvSpPr>
          <p:cNvPr id="9" name="b2"/>
          <p:cNvSpPr txBox="1"/>
          <p:nvPr/>
        </p:nvSpPr>
        <p:spPr>
          <a:xfrm>
            <a:off x="762000" y="38354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Proyekt contextə sığsa belə, model limitə yaxınlaşdıqca mühakimə keyfiyyəti düşür. Məsələn, 1M token limitli modeldə 256 min tokenə yaxın geriləmə hiss olunur.</a:t>
            </a:r>
            <a:endParaRPr lang="en-US" sz="1400"/>
          </a:p>
        </p:txBody>
      </p:sp>
      <p:sp>
        <p:nvSpPr>
          <p:cNvPr id="10" name="barbg"/>
          <p:cNvSpPr/>
          <p:nvPr/>
        </p:nvSpPr>
        <p:spPr>
          <a:xfrm>
            <a:off x="6858000" y="2159000"/>
            <a:ext cx="4572000" cy="431800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1" name="barfill"/>
          <p:cNvSpPr/>
          <p:nvPr/>
        </p:nvSpPr>
        <p:spPr>
          <a:xfrm>
            <a:off x="6858000" y="2159000"/>
            <a:ext cx="2540000" cy="431800"/>
          </a:xfrm>
          <a:prstGeom prst="roundRect">
            <a:avLst>
              <a:gd name="adj" fmla="val 50000"/>
            </a:avLst>
          </a:prstGeom>
          <a:solidFill>
            <a:srgbClr val="F4C95D"/>
          </a:solidFill>
          <a:ln>
            <a:noFill/>
          </a:ln>
        </p:spPr>
      </p:sp>
      <p:sp>
        <p:nvSpPr>
          <p:cNvPr id="12" name="barmark"/>
          <p:cNvSpPr/>
          <p:nvPr/>
        </p:nvSpPr>
        <p:spPr>
          <a:xfrm>
            <a:off x="10160000" y="2082800"/>
            <a:ext cx="38100" cy="584200"/>
          </a:xfrm>
          <a:prstGeom prst="rect">
            <a:avLst/>
          </a:prstGeom>
          <a:solidFill>
            <a:srgbClr val="E98B73"/>
          </a:solidFill>
          <a:ln>
            <a:noFill/>
          </a:ln>
        </p:spPr>
      </p:sp>
      <p:sp>
        <p:nvSpPr>
          <p:cNvPr id="13" name="barlbl"/>
          <p:cNvSpPr txBox="1"/>
          <p:nvPr/>
        </p:nvSpPr>
        <p:spPr>
          <a:xfrm>
            <a:off x="6858000" y="26924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0 ——— effektiv zona ——— keyfiyyət itkisi ——— 1M limit</a:t>
            </a:r>
            <a:endParaRPr lang="en-US" sz="1100"/>
          </a:p>
        </p:txBody>
      </p:sp>
      <p:sp>
        <p:nvSpPr>
          <p:cNvPr id="14" name="hlbar"/>
          <p:cNvSpPr/>
          <p:nvPr/>
        </p:nvSpPr>
        <p:spPr>
          <a:xfrm>
            <a:off x="6858000" y="3327400"/>
            <a:ext cx="50800" cy="1016000"/>
          </a:xfrm>
          <a:prstGeom prst="rect">
            <a:avLst/>
          </a:prstGeom>
          <a:solidFill>
            <a:srgbClr val="E98B73"/>
          </a:solidFill>
          <a:ln>
            <a:noFill/>
          </a:ln>
        </p:spPr>
      </p:sp>
      <p:sp>
        <p:nvSpPr>
          <p:cNvPr id="15" name="concl"/>
          <p:cNvSpPr txBox="1"/>
          <p:nvPr/>
        </p:nvSpPr>
        <p:spPr>
          <a:xfrm>
            <a:off x="7061200" y="3327400"/>
            <a:ext cx="43688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Nəticə:</a:t>
            </a:r>
            <a:r>
              <a:rPr lang="en-US" sz="1400">
                <a:solidFill>
                  <a:srgbClr val="102A43"/>
                </a:solidFill>
                <a:latin typeface="MiSans"/>
                <a:ea typeface="MiSans"/>
              </a:rPr>
              <a:t> «1 milyon context» elan edilsə də, </a:t>
            </a:r>
            <a:r>
              <a:rPr lang="en-US" sz="1400" i="1">
                <a:solidFill>
                  <a:srgbClr val="102A43"/>
                </a:solidFill>
                <a:latin typeface="MiSans"/>
                <a:ea typeface="MiSans"/>
              </a:rPr>
              <a:t>effektiv context</a:t>
            </a:r>
            <a:r>
              <a:rPr lang="en-US" sz="1400">
                <a:solidFill>
                  <a:srgbClr val="102A43"/>
                </a:solidFill>
                <a:latin typeface="MiSans"/>
                <a:ea typeface="MiSans"/>
              </a:rPr>
              <a:t> heç də 1 milyon deyil. Problem həll yolundadır, amma tam həll olunmayıb.</a:t>
            </a:r>
            <a:endParaRPr lang="en-US" sz="1400"/>
          </a:p>
        </p:txBody>
      </p:sp>
      <p:sp>
        <p:nvSpPr>
          <p:cNvPr id="16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7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05/25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604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TERMİNOLOGİYA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6604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Mövzunu dərk etmək üçün 4 əsas termin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06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6604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tag0"/>
          <p:cNvSpPr/>
          <p:nvPr/>
        </p:nvSpPr>
        <p:spPr>
          <a:xfrm>
            <a:off x="660400" y="2032000"/>
            <a:ext cx="1066800" cy="330200"/>
          </a:xfrm>
          <a:prstGeom prst="roundRect">
            <a:avLst>
              <a:gd name="adj" fmla="val 40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7" name="tg0"/>
          <p:cNvSpPr txBox="1"/>
          <p:nvPr/>
        </p:nvSpPr>
        <p:spPr>
          <a:xfrm>
            <a:off x="660400" y="2070100"/>
            <a:ext cx="106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Context</a:t>
            </a:r>
            <a:endParaRPr lang="en-US" sz="1300"/>
          </a:p>
        </p:txBody>
      </p:sp>
      <p:sp>
        <p:nvSpPr>
          <p:cNvPr id="8" name="tb0"/>
          <p:cNvSpPr txBox="1"/>
          <p:nvPr/>
        </p:nvSpPr>
        <p:spPr>
          <a:xfrm>
            <a:off x="1778000" y="2006600"/>
            <a:ext cx="889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Modelə verilən input və generate etdiyi output tokenlərinin cəmi.</a:t>
            </a:r>
            <a:endParaRPr lang="en-US" sz="1400"/>
          </a:p>
        </p:txBody>
      </p:sp>
      <p:sp>
        <p:nvSpPr>
          <p:cNvPr id="9" name="r0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660400" y="2819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10" name="tag1"/>
          <p:cNvSpPr/>
          <p:nvPr/>
        </p:nvSpPr>
        <p:spPr>
          <a:xfrm>
            <a:off x="660400" y="3048000"/>
            <a:ext cx="1066800" cy="330200"/>
          </a:xfrm>
          <a:prstGeom prst="roundRect">
            <a:avLst>
              <a:gd name="adj" fmla="val 40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1" name="tg1"/>
          <p:cNvSpPr txBox="1"/>
          <p:nvPr/>
        </p:nvSpPr>
        <p:spPr>
          <a:xfrm>
            <a:off x="660400" y="3086100"/>
            <a:ext cx="106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Tool (Alət)</a:t>
            </a:r>
            <a:endParaRPr lang="en-US" sz="1300"/>
          </a:p>
        </p:txBody>
      </p:sp>
      <p:sp>
        <p:nvSpPr>
          <p:cNvPr id="12" name="tb1"/>
          <p:cNvSpPr txBox="1"/>
          <p:nvPr/>
        </p:nvSpPr>
        <p:spPr>
          <a:xfrm>
            <a:off x="1778000" y="3022600"/>
            <a:ext cx="889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AI sisteminin xarici sistemlə əlaqə qurub əməliyyat yerinə yetirməsi üçün vasitə.</a:t>
            </a:r>
            <a:endParaRPr lang="en-US" sz="1400"/>
          </a:p>
        </p:txBody>
      </p:sp>
      <p:sp>
        <p:nvSpPr>
          <p:cNvPr id="13" name="r1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660400" y="383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14" name="tag2"/>
          <p:cNvSpPr/>
          <p:nvPr/>
        </p:nvSpPr>
        <p:spPr>
          <a:xfrm>
            <a:off x="660400" y="4064000"/>
            <a:ext cx="1066800" cy="330200"/>
          </a:xfrm>
          <a:prstGeom prst="roundRect">
            <a:avLst>
              <a:gd name="adj" fmla="val 40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5" name="tg2"/>
          <p:cNvSpPr txBox="1"/>
          <p:nvPr/>
        </p:nvSpPr>
        <p:spPr>
          <a:xfrm>
            <a:off x="660400" y="4102100"/>
            <a:ext cx="106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Agent</a:t>
            </a:r>
            <a:endParaRPr lang="en-US" sz="1300"/>
          </a:p>
        </p:txBody>
      </p:sp>
      <p:sp>
        <p:nvSpPr>
          <p:cNvPr id="16" name="tb2"/>
          <p:cNvSpPr txBox="1"/>
          <p:nvPr/>
        </p:nvSpPr>
        <p:spPr>
          <a:xfrm>
            <a:off x="1778000" y="4038600"/>
            <a:ext cx="889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Tapşırığı yerinə yetirmək üçün alətlərdən istifadə edib növbəti addımlara qərar verən sistem.</a:t>
            </a:r>
            <a:endParaRPr lang="en-US" sz="1400"/>
          </a:p>
        </p:txBody>
      </p:sp>
      <p:sp>
        <p:nvSpPr>
          <p:cNvPr id="17" name="r2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660400" y="4851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18" name="tag3"/>
          <p:cNvSpPr/>
          <p:nvPr/>
        </p:nvSpPr>
        <p:spPr>
          <a:xfrm>
            <a:off x="660400" y="5080000"/>
            <a:ext cx="1066800" cy="330200"/>
          </a:xfrm>
          <a:prstGeom prst="roundRect">
            <a:avLst>
              <a:gd name="adj" fmla="val 40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9" name="tg3"/>
          <p:cNvSpPr txBox="1"/>
          <p:nvPr/>
        </p:nvSpPr>
        <p:spPr>
          <a:xfrm>
            <a:off x="660400" y="5118100"/>
            <a:ext cx="106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Harness</a:t>
            </a:r>
            <a:endParaRPr lang="en-US" sz="1300"/>
          </a:p>
        </p:txBody>
      </p:sp>
      <p:sp>
        <p:nvSpPr>
          <p:cNvPr id="20" name="tb3"/>
          <p:cNvSpPr txBox="1"/>
          <p:nvPr/>
        </p:nvSpPr>
        <p:spPr>
          <a:xfrm>
            <a:off x="1778000" y="5054600"/>
            <a:ext cx="889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Modelə alətlər, memory, approval kimi xarici sistemlərlə qarşılıqlı əlaqəni təşkil edən framework.</a:t>
            </a:r>
            <a:endParaRPr lang="en-US" sz="1400"/>
          </a:p>
        </p:txBody>
      </p:sp>
      <p:sp>
        <p:nvSpPr>
          <p:cNvPr id="21" name="footL"/>
          <p:cNvSpPr txBox="1"/>
          <p:nvPr/>
        </p:nvSpPr>
        <p:spPr>
          <a:xfrm>
            <a:off x="6604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22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06/25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REAL NÜMUNƏ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Harness, Agent və Tool əlaqəsi — Claude Code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07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harness"/>
          <p:cNvSpPr/>
          <p:nvPr/>
        </p:nvSpPr>
        <p:spPr>
          <a:xfrm>
            <a:off x="762000" y="2032000"/>
            <a:ext cx="10668000" cy="3048000"/>
          </a:xfrm>
          <a:prstGeom prst="roundRect">
            <a:avLst>
              <a:gd name="adj" fmla="val 6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7" name="harnesslbl"/>
          <p:cNvSpPr txBox="1"/>
          <p:nvPr/>
        </p:nvSpPr>
        <p:spPr>
          <a:xfrm>
            <a:off x="1016000" y="2159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Harness: Claude Code</a:t>
            </a:r>
            <a:endParaRPr lang="en-US" sz="1400"/>
          </a:p>
        </p:txBody>
      </p:sp>
      <p:sp>
        <p:nvSpPr>
          <p:cNvPr id="8" name="ag0"/>
          <p:cNvSpPr/>
          <p:nvPr/>
        </p:nvSpPr>
        <p:spPr>
          <a:xfrm>
            <a:off x="1143000" y="2603500"/>
            <a:ext cx="2794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</p:sp>
      <p:sp>
        <p:nvSpPr>
          <p:cNvPr id="9" name="agt0"/>
          <p:cNvSpPr txBox="1"/>
          <p:nvPr/>
        </p:nvSpPr>
        <p:spPr>
          <a:xfrm>
            <a:off x="1320800" y="2768600"/>
            <a:ext cx="2438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code agent</a:t>
            </a:r>
            <a:endParaRPr lang="en-US" sz="1400"/>
          </a:p>
        </p:txBody>
      </p:sp>
      <p:sp>
        <p:nvSpPr>
          <p:cNvPr id="10" name="agr0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1320800" y="3124200"/>
            <a:ext cx="24384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11" name="agb0"/>
          <p:cNvSpPr txBox="1"/>
          <p:nvPr/>
        </p:nvSpPr>
        <p:spPr>
          <a:xfrm>
            <a:off x="1320800" y="3251200"/>
            <a:ext cx="2438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Səlahiyyətli toollar:</a:t>
            </a:r>
            <a:endParaRPr lang="en-US" sz="1300"/>
          </a:p>
          <a:p>
            <a:pPr>
              <a:lnSpc>
                <a:spcPct val="160000"/>
              </a:lnSpc>
            </a:pPr>
            <a:r>
              <a:rPr lang="en-US" sz="1300" b="1">
                <a:solidFill>
                  <a:srgbClr val="334E68"/>
                </a:solidFill>
                <a:latin typeface="MiSans"/>
                <a:ea typeface="MiSans"/>
              </a:rPr>
              <a:t>read · write</a:t>
            </a:r>
            <a:endParaRPr lang="en-US" sz="1300"/>
          </a:p>
        </p:txBody>
      </p:sp>
      <p:sp>
        <p:nvSpPr>
          <p:cNvPr id="12" name="ag1"/>
          <p:cNvSpPr/>
          <p:nvPr/>
        </p:nvSpPr>
        <p:spPr>
          <a:xfrm>
            <a:off x="4318000" y="2603500"/>
            <a:ext cx="2794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</p:sp>
      <p:sp>
        <p:nvSpPr>
          <p:cNvPr id="13" name="agt1"/>
          <p:cNvSpPr txBox="1"/>
          <p:nvPr/>
        </p:nvSpPr>
        <p:spPr>
          <a:xfrm>
            <a:off x="4495800" y="2768600"/>
            <a:ext cx="2438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plan agent</a:t>
            </a:r>
            <a:endParaRPr lang="en-US" sz="1400"/>
          </a:p>
        </p:txBody>
      </p:sp>
      <p:sp>
        <p:nvSpPr>
          <p:cNvPr id="14" name="agr1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4495800" y="3124200"/>
            <a:ext cx="24384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15" name="agb1"/>
          <p:cNvSpPr txBox="1"/>
          <p:nvPr/>
        </p:nvSpPr>
        <p:spPr>
          <a:xfrm>
            <a:off x="4495800" y="3251200"/>
            <a:ext cx="2438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Səlahiyyətli toollar:</a:t>
            </a:r>
            <a:endParaRPr lang="en-US" sz="1300"/>
          </a:p>
          <a:p>
            <a:pPr>
              <a:lnSpc>
                <a:spcPct val="160000"/>
              </a:lnSpc>
            </a:pPr>
            <a:r>
              <a:rPr lang="en-US" sz="1300" b="1">
                <a:solidFill>
                  <a:srgbClr val="334E68"/>
                </a:solidFill>
                <a:latin typeface="MiSans"/>
                <a:ea typeface="MiSans"/>
              </a:rPr>
              <a:t>read · askquestion</a:t>
            </a:r>
            <a:endParaRPr lang="en-US" sz="1300"/>
          </a:p>
        </p:txBody>
      </p:sp>
      <p:sp>
        <p:nvSpPr>
          <p:cNvPr id="16" name="qbar"/>
          <p:cNvSpPr/>
          <p:nvPr/>
        </p:nvSpPr>
        <p:spPr>
          <a:xfrm>
            <a:off x="7112000" y="2794000"/>
            <a:ext cx="4064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</p:sp>
      <p:sp>
        <p:nvSpPr>
          <p:cNvPr id="17" name="qt"/>
          <p:cNvSpPr txBox="1"/>
          <p:nvPr/>
        </p:nvSpPr>
        <p:spPr>
          <a:xfrm>
            <a:off x="7315200" y="2971800"/>
            <a:ext cx="3683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Problem:</a:t>
            </a:r>
            <a:r>
              <a:rPr lang="en-US" sz="1300">
                <a:solidFill>
                  <a:srgbClr val="102A43"/>
                </a:solidFill>
                <a:latin typeface="MiSans"/>
                <a:ea typeface="MiSans"/>
              </a:rPr>
              <a:t> AI sadəcə text verirsə və xarici dünyaya birbaşa çıxışı yoxdursa, toollardan necə istifadə edir?</a:t>
            </a:r>
            <a:endParaRPr lang="en-US" sz="1300"/>
          </a:p>
        </p:txBody>
      </p:sp>
      <p:sp>
        <p:nvSpPr>
          <p:cNvPr id="18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9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07/25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İŞ PRİNSİPİ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Deterministik və qeyri-deterministik dünyalar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08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lh1"/>
          <p:cNvSpPr txBox="1"/>
          <p:nvPr/>
        </p:nvSpPr>
        <p:spPr>
          <a:xfrm>
            <a:off x="762000" y="2032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02A43"/>
                </a:solidFill>
                <a:latin typeface="MiSans"/>
                <a:ea typeface="MiSans"/>
              </a:rPr>
              <a:t>AI model</a:t>
            </a:r>
            <a:endParaRPr lang="en-US" sz="1600"/>
          </a:p>
        </p:txBody>
      </p:sp>
      <p:sp>
        <p:nvSpPr>
          <p:cNvPr id="7" name="lb1"/>
          <p:cNvSpPr txBox="1"/>
          <p:nvPr/>
        </p:nvSpPr>
        <p:spPr>
          <a:xfrm>
            <a:off x="762000" y="2387600"/>
            <a:ext cx="508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Output əksər hallarda </a:t>
            </a:r>
            <a:r>
              <a:rPr lang="en-US" sz="1300" b="1">
                <a:solidFill>
                  <a:srgbClr val="334E68"/>
                </a:solidFill>
                <a:latin typeface="MiSans"/>
                <a:ea typeface="MiSans"/>
              </a:rPr>
              <a:t>deterministik deyil</a:t>
            </a: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 — eyni input fərqli outputlar verə bilər. Buna baxmayaraq texniki olaraq model böyük bir riyazi düsturdur.</a:t>
            </a:r>
            <a:endParaRPr lang="en-US" sz="1300"/>
          </a:p>
        </p:txBody>
      </p:sp>
      <p:sp>
        <p:nvSpPr>
          <p:cNvPr id="8" name="rh1"/>
          <p:cNvSpPr txBox="1"/>
          <p:nvPr/>
        </p:nvSpPr>
        <p:spPr>
          <a:xfrm>
            <a:off x="6350000" y="2032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02A43"/>
                </a:solidFill>
                <a:latin typeface="MiSans"/>
                <a:ea typeface="MiSans"/>
              </a:rPr>
              <a:t>Xarici alətlər (məs. curl)</a:t>
            </a:r>
            <a:endParaRPr lang="en-US" sz="1600"/>
          </a:p>
        </p:txBody>
      </p:sp>
      <p:sp>
        <p:nvSpPr>
          <p:cNvPr id="9" name="rb1"/>
          <p:cNvSpPr txBox="1"/>
          <p:nvPr/>
        </p:nvSpPr>
        <p:spPr>
          <a:xfrm>
            <a:off x="6350000" y="2387600"/>
            <a:ext cx="508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Parametrləri və outputu dəqiq bəlli olan </a:t>
            </a:r>
            <a:r>
              <a:rPr lang="en-US" sz="1300" b="1">
                <a:solidFill>
                  <a:srgbClr val="334E68"/>
                </a:solidFill>
                <a:latin typeface="MiSans"/>
                <a:ea typeface="MiSans"/>
              </a:rPr>
              <a:t>deterministik proqramlardır</a:t>
            </a: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 — eyni input həmişə eyni nəticəni verir.</a:t>
            </a:r>
            <a:endParaRPr lang="en-US" sz="1300"/>
          </a:p>
        </p:txBody>
      </p:sp>
      <p:sp>
        <p:nvSpPr>
          <p:cNvPr id="10" name="vr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6096000" y="20320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11" name="qmark"/>
          <p:cNvSpPr/>
          <p:nvPr/>
        </p:nvSpPr>
        <p:spPr>
          <a:xfrm>
            <a:off x="762000" y="4064000"/>
            <a:ext cx="10668000" cy="1016000"/>
          </a:xfrm>
          <a:prstGeom prst="roundRect">
            <a:avLst>
              <a:gd name="adj" fmla="val 9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2" name="q"/>
          <p:cNvSpPr txBox="1"/>
          <p:nvPr/>
        </p:nvSpPr>
        <p:spPr>
          <a:xfrm>
            <a:off x="1016000" y="4267200"/>
            <a:ext cx="1016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Mərkəzi sual:</a:t>
            </a:r>
            <a:r>
              <a:rPr lang="en-US" sz="1500">
                <a:solidFill>
                  <a:srgbClr val="102A43"/>
                </a:solidFill>
                <a:latin typeface="MiSans"/>
                <a:ea typeface="MiSans"/>
              </a:rPr>
              <a:t> bu iki fərqli dünyanı — ehtiyari AI outputu ilə deterministik proqramları — necə etibarlı şəkildə birləşdirə bilərik?</a:t>
            </a:r>
            <a:endParaRPr lang="en-US" sz="1500"/>
          </a:p>
        </p:txBody>
      </p:sp>
      <p:sp>
        <p:nvSpPr>
          <p:cNvPr id="13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4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08/25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İLK ADDIM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Structured Output — AI-nı deterministik etməyin yolu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09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dot0"/>
          <p:cNvSpPr/>
          <p:nvPr/>
        </p:nvSpPr>
        <p:spPr>
          <a:xfrm>
            <a:off x="787400" y="20828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7" name="p0"/>
          <p:cNvSpPr txBox="1"/>
          <p:nvPr/>
        </p:nvSpPr>
        <p:spPr>
          <a:xfrm>
            <a:off x="1117600" y="20320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Müasir modellər verilmiş struktur üzrə cavab verə bilər — məsələn, qəti JSON formatında.</a:t>
            </a:r>
            <a:endParaRPr lang="en-US" sz="1400"/>
          </a:p>
        </p:txBody>
      </p:sp>
      <p:sp>
        <p:nvSpPr>
          <p:cNvPr id="8" name="dot1"/>
          <p:cNvSpPr/>
          <p:nvPr/>
        </p:nvSpPr>
        <p:spPr>
          <a:xfrm>
            <a:off x="787400" y="28702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9" name="p1"/>
          <p:cNvSpPr txBox="1"/>
          <p:nvPr/>
        </p:nvSpPr>
        <p:spPr>
          <a:xfrm>
            <a:off x="1117600" y="28194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Siz modelə deyirsiniz: «Nə input gəlirsə gəlsin, cavab bu JSON strukturunda olsun».</a:t>
            </a:r>
            <a:endParaRPr lang="en-US" sz="1400"/>
          </a:p>
        </p:txBody>
      </p:sp>
      <p:sp>
        <p:nvSpPr>
          <p:cNvPr id="10" name="dot2"/>
          <p:cNvSpPr/>
          <p:nvPr/>
        </p:nvSpPr>
        <p:spPr>
          <a:xfrm>
            <a:off x="787400" y="36576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1" name="p2"/>
          <p:cNvSpPr txBox="1"/>
          <p:nvPr/>
        </p:nvSpPr>
        <p:spPr>
          <a:xfrm>
            <a:off x="1117600" y="3606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Belə output deterministik parserlər tərəfindən etibarlı şəkildə parse olunur.</a:t>
            </a:r>
            <a:endParaRPr lang="en-US" sz="1400"/>
          </a:p>
        </p:txBody>
      </p:sp>
      <p:sp>
        <p:nvSpPr>
          <p:cNvPr id="12" name="dot3"/>
          <p:cNvSpPr/>
          <p:nvPr/>
        </p:nvSpPr>
        <p:spPr>
          <a:xfrm>
            <a:off x="787400" y="44450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3" name="p3"/>
          <p:cNvSpPr txBox="1"/>
          <p:nvPr/>
        </p:nvSpPr>
        <p:spPr>
          <a:xfrm>
            <a:off x="1117600" y="4394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Model tərəfindən generate olunmuş data üzərində deterministik əməliyyatlar aparmaq mümkün olur.</a:t>
            </a:r>
            <a:endParaRPr lang="en-US" sz="1400"/>
          </a:p>
        </p:txBody>
      </p:sp>
      <p:sp>
        <p:nvSpPr>
          <p:cNvPr id="14" name="code-bg"/>
          <p:cNvSpPr/>
          <p:nvPr/>
        </p:nvSpPr>
        <p:spPr>
          <a:xfrm>
            <a:off x="762000" y="5283200"/>
            <a:ext cx="6604000" cy="889000"/>
          </a:xfrm>
          <a:prstGeom prst="roundRect">
            <a:avLst>
              <a:gd name="adj" fmla="val 8000"/>
            </a:avLst>
          </a:prstGeom>
          <a:solidFill>
            <a:srgbClr val="243B53"/>
          </a:solidFill>
          <a:ln>
            <a:noFill/>
          </a:ln>
        </p:spPr>
      </p:sp>
      <p:sp>
        <p:nvSpPr>
          <p:cNvPr id="15" name="code-tx"/>
          <p:cNvSpPr txBox="1"/>
          <p:nvPr/>
        </p:nvSpPr>
        <p:spPr>
          <a:xfrm>
            <a:off x="990600" y="5461000"/>
            <a:ext cx="6146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{"category": "billing", "priority": "high", ...}</a:t>
            </a:r>
            <a:endParaRPr lang="en-US" sz="1300"/>
          </a:p>
        </p:txBody>
      </p:sp>
      <p:sp>
        <p:nvSpPr>
          <p:cNvPr id="16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7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09/25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PRAKTİKA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İlk AI-powered app: Customer Support ticketi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10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code-bg"/>
          <p:cNvSpPr/>
          <p:nvPr/>
        </p:nvSpPr>
        <p:spPr>
          <a:xfrm>
            <a:off x="762000" y="19812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243B53"/>
          </a:solidFill>
          <a:ln>
            <a:noFill/>
          </a:ln>
        </p:spPr>
      </p:sp>
      <p:sp>
        <p:nvSpPr>
          <p:cNvPr id="7" name="code-tx"/>
          <p:cNvSpPr txBox="1"/>
          <p:nvPr/>
        </p:nvSpPr>
        <p:spPr>
          <a:xfrm>
            <a:off x="990600" y="2159000"/>
            <a:ext cx="6146800" cy="243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complaint = read_customer_message()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ticket = model.parse(complaint, schema={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"category": str,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"priority": str,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"summary": str,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"requires_refund": bool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})</a:t>
            </a:r>
            <a:endParaRPr lang="en-US" sz="1300"/>
          </a:p>
        </p:txBody>
      </p:sp>
      <p:sp>
        <p:nvSpPr>
          <p:cNvPr id="8" name="h1"/>
          <p:cNvSpPr txBox="1"/>
          <p:nvPr/>
        </p:nvSpPr>
        <p:spPr>
          <a:xfrm>
            <a:off x="7874000" y="19812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Məntiq</a:t>
            </a:r>
            <a:endParaRPr lang="en-US" sz="1500"/>
          </a:p>
        </p:txBody>
      </p:sp>
      <p:sp>
        <p:nvSpPr>
          <p:cNvPr id="9" name="b1"/>
          <p:cNvSpPr txBox="1"/>
          <p:nvPr/>
        </p:nvSpPr>
        <p:spPr>
          <a:xfrm>
            <a:off x="7874000" y="2336800"/>
            <a:ext cx="3556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Müştəri şikayət yazır → model onu strukturlu </a:t>
            </a:r>
            <a:r>
              <a:rPr lang="en-US" sz="1300" b="1">
                <a:solidFill>
                  <a:srgbClr val="334E68"/>
                </a:solidFill>
                <a:latin typeface="MiSans"/>
                <a:ea typeface="MiSans"/>
              </a:rPr>
              <a:t>Support Ticket</a:t>
            </a: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-ə çevirir: category, priority, summary, requires_refund.</a:t>
            </a:r>
            <a:endParaRPr lang="en-US" sz="1300"/>
          </a:p>
        </p:txBody>
      </p:sp>
      <p:sp>
        <p:nvSpPr>
          <p:cNvPr id="10" name="hlbar"/>
          <p:cNvSpPr/>
          <p:nvPr/>
        </p:nvSpPr>
        <p:spPr>
          <a:xfrm>
            <a:off x="7874000" y="4038600"/>
            <a:ext cx="50800" cy="1117600"/>
          </a:xfrm>
          <a:prstGeom prst="rect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1" name="concl"/>
          <p:cNvSpPr txBox="1"/>
          <p:nvPr/>
        </p:nvSpPr>
        <p:spPr>
          <a:xfrm>
            <a:off x="8077200" y="4038600"/>
            <a:ext cx="33528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Nəticə:</a:t>
            </a:r>
            <a:r>
              <a:rPr lang="en-US" sz="1300">
                <a:solidFill>
                  <a:srgbClr val="102A43"/>
                </a:solidFill>
                <a:latin typeface="MiSans"/>
                <a:ea typeface="MiSans"/>
              </a:rPr>
              <a:t> datanı parse etdik — indi onu databazaya yaza, ticket aça bilərik. Deterministik dünya ilə AI qismən əlaqələndi.</a:t>
            </a:r>
            <a:endParaRPr lang="en-US" sz="1300"/>
          </a:p>
        </p:txBody>
      </p:sp>
      <p:sp>
        <p:nvSpPr>
          <p:cNvPr id="12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3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10/25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KODU SADƏLƏŞDİRMƏK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Pydantic ilə daha təmiz Structured Output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11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code-bg"/>
          <p:cNvSpPr/>
          <p:nvPr/>
        </p:nvSpPr>
        <p:spPr>
          <a:xfrm>
            <a:off x="762000" y="1981200"/>
            <a:ext cx="6604000" cy="2413000"/>
          </a:xfrm>
          <a:prstGeom prst="roundRect">
            <a:avLst>
              <a:gd name="adj" fmla="val 8000"/>
            </a:avLst>
          </a:prstGeom>
          <a:solidFill>
            <a:srgbClr val="243B53"/>
          </a:solidFill>
          <a:ln>
            <a:noFill/>
          </a:ln>
        </p:spPr>
      </p:sp>
      <p:sp>
        <p:nvSpPr>
          <p:cNvPr id="7" name="code-tx"/>
          <p:cNvSpPr txBox="1"/>
          <p:nvPr/>
        </p:nvSpPr>
        <p:spPr>
          <a:xfrm>
            <a:off x="990600" y="2159000"/>
            <a:ext cx="6146800" cy="205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class Ticket(BaseModel):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category: str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priority: Literal["low","high"]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summary: str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requires_refund: bool</a:t>
            </a:r>
            <a:endParaRPr lang="en-US" sz="1300"/>
          </a:p>
          <a:p>
            <a:pPr>
              <a:lnSpc>
                <a:spcPct val="145000"/>
              </a:lnSpc>
            </a:pP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ticket = model.parse(input, Ticket)</a:t>
            </a:r>
            <a:endParaRPr lang="en-US" sz="1300"/>
          </a:p>
        </p:txBody>
      </p:sp>
      <p:sp>
        <p:nvSpPr>
          <p:cNvPr id="8" name="b1"/>
          <p:cNvSpPr txBox="1"/>
          <p:nvPr/>
        </p:nvSpPr>
        <p:spPr>
          <a:xfrm>
            <a:off x="7874000" y="1981200"/>
            <a:ext cx="355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Python library-ləri (</a:t>
            </a:r>
            <a:r>
              <a:rPr lang="en-US" sz="1300" b="1">
                <a:solidFill>
                  <a:srgbClr val="334E68"/>
                </a:solidFill>
                <a:latin typeface="MiSans"/>
                <a:ea typeface="MiSans"/>
              </a:rPr>
              <a:t>Pydantic</a:t>
            </a: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) ilə kod xeyli qısalır: model user inputunu kateqorizə edir və strukturlu output verir.</a:t>
            </a:r>
            <a:endParaRPr lang="en-US" sz="1300"/>
          </a:p>
        </p:txBody>
      </p:sp>
      <p:sp>
        <p:nvSpPr>
          <p:cNvPr id="9" name="hlbar"/>
          <p:cNvSpPr/>
          <p:nvPr/>
        </p:nvSpPr>
        <p:spPr>
          <a:xfrm>
            <a:off x="7874000" y="3556000"/>
            <a:ext cx="50800" cy="711200"/>
          </a:xfrm>
          <a:prstGeom prst="rect">
            <a:avLst/>
          </a:prstGeom>
          <a:solidFill>
            <a:srgbClr val="E98B73"/>
          </a:solidFill>
          <a:ln>
            <a:noFill/>
          </a:ln>
        </p:spPr>
      </p:sp>
      <p:sp>
        <p:nvSpPr>
          <p:cNvPr id="10" name="warn"/>
          <p:cNvSpPr txBox="1"/>
          <p:nvPr/>
        </p:nvSpPr>
        <p:spPr>
          <a:xfrm>
            <a:off x="8077200" y="3556000"/>
            <a:ext cx="3352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Lakin:</a:t>
            </a:r>
            <a:r>
              <a:rPr lang="en-US" sz="1300">
                <a:solidFill>
                  <a:srgbClr val="102A43"/>
                </a:solidFill>
                <a:latin typeface="MiSans"/>
                <a:ea typeface="MiSans"/>
              </a:rPr>
              <a:t> AI hələ özü növbəti addıma qərar vermir və heç bir sistemlə əlaqə qurmur.</a:t>
            </a:r>
            <a:endParaRPr lang="en-US" sz="1300"/>
          </a:p>
        </p:txBody>
      </p:sp>
      <p:sp>
        <p:nvSpPr>
          <p:cNvPr id="11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2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11/25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XARİCİ DÜNYAYA QOŞULMA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Function Calling-in başlanğıcı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12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code-bg"/>
          <p:cNvSpPr/>
          <p:nvPr/>
        </p:nvSpPr>
        <p:spPr>
          <a:xfrm>
            <a:off x="762000" y="1981200"/>
            <a:ext cx="6604000" cy="2540000"/>
          </a:xfrm>
          <a:prstGeom prst="roundRect">
            <a:avLst>
              <a:gd name="adj" fmla="val 8000"/>
            </a:avLst>
          </a:prstGeom>
          <a:solidFill>
            <a:srgbClr val="243B53"/>
          </a:solidFill>
          <a:ln>
            <a:noFill/>
          </a:ln>
        </p:spPr>
      </p:sp>
      <p:sp>
        <p:nvSpPr>
          <p:cNvPr id="7" name="code-tx"/>
          <p:cNvSpPr txBox="1"/>
          <p:nvPr/>
        </p:nvSpPr>
        <p:spPr>
          <a:xfrm>
            <a:off x="990600" y="2159000"/>
            <a:ext cx="6146800" cy="218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class SecurityCommand(BaseModel):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action: Literal[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  "allow_email",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  "quarantine_email",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  "escalate_to_soc"]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email_id: str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reason: str</a:t>
            </a:r>
            <a:endParaRPr lang="en-US" sz="1300"/>
          </a:p>
        </p:txBody>
      </p:sp>
      <p:sp>
        <p:nvSpPr>
          <p:cNvPr id="8" name="b1"/>
          <p:cNvSpPr txBox="1"/>
          <p:nvPr/>
        </p:nvSpPr>
        <p:spPr>
          <a:xfrm>
            <a:off x="7874000" y="1981200"/>
            <a:ext cx="3556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AI-ya spesifik </a:t>
            </a:r>
            <a:r>
              <a:rPr lang="en-US" sz="1300" b="1">
                <a:solidFill>
                  <a:srgbClr val="334E68"/>
                </a:solidFill>
                <a:latin typeface="MiSans"/>
                <a:ea typeface="MiSans"/>
              </a:rPr>
              <a:t>actionlar</a:t>
            </a: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 veririk. Email fişinq olarsa, model hansı funksiyanın çağrılacağına və arqumentlərdə nə olacağına </a:t>
            </a:r>
            <a:r>
              <a:rPr lang="en-US" sz="1300" b="1">
                <a:solidFill>
                  <a:srgbClr val="334E68"/>
                </a:solidFill>
                <a:latin typeface="MiSans"/>
                <a:ea typeface="MiSans"/>
              </a:rPr>
              <a:t>özü qərar verir</a:t>
            </a: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.</a:t>
            </a:r>
            <a:endParaRPr lang="en-US" sz="1300"/>
          </a:p>
        </p:txBody>
      </p:sp>
      <p:sp>
        <p:nvSpPr>
          <p:cNvPr id="9" name="b2"/>
          <p:cNvSpPr txBox="1"/>
          <p:nvPr/>
        </p:nvSpPr>
        <p:spPr>
          <a:xfrm>
            <a:off x="7874000" y="3683000"/>
            <a:ext cx="355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Proqramın rolu sadəcə icradır — qərar modeldədir.</a:t>
            </a:r>
            <a:endParaRPr lang="en-US" sz="1300"/>
          </a:p>
        </p:txBody>
      </p:sp>
      <p:sp>
        <p:nvSpPr>
          <p:cNvPr id="10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1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12/25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ANLAYIŞ FƏRQİ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Function Calling və Tool Calling — fərq nədir?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13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h0"/>
          <p:cNvSpPr txBox="1"/>
          <p:nvPr/>
        </p:nvSpPr>
        <p:spPr>
          <a:xfrm>
            <a:off x="762000" y="2133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Function Calling</a:t>
            </a:r>
            <a:endParaRPr lang="en-US" sz="1500"/>
          </a:p>
        </p:txBody>
      </p:sp>
      <p:sp>
        <p:nvSpPr>
          <p:cNvPr id="7" name="b0"/>
          <p:cNvSpPr txBox="1"/>
          <p:nvPr/>
        </p:nvSpPr>
        <p:spPr>
          <a:xfrm>
            <a:off x="3937000" y="2133600"/>
            <a:ext cx="6985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Modelin Python funksiyaları arasında seçim edib arqumentləri təyin etməsi prosesi.</a:t>
            </a:r>
            <a:endParaRPr lang="en-US" sz="1400"/>
          </a:p>
        </p:txBody>
      </p:sp>
      <p:sp>
        <p:nvSpPr>
          <p:cNvPr id="8" name="r0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2844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9" name="h1"/>
          <p:cNvSpPr txBox="1"/>
          <p:nvPr/>
        </p:nvSpPr>
        <p:spPr>
          <a:xfrm>
            <a:off x="762000" y="32258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Tool Calling</a:t>
            </a:r>
            <a:endParaRPr lang="en-US" sz="1500"/>
          </a:p>
        </p:txBody>
      </p:sp>
      <p:sp>
        <p:nvSpPr>
          <p:cNvPr id="10" name="b1"/>
          <p:cNvSpPr txBox="1"/>
          <p:nvPr/>
        </p:nvSpPr>
        <p:spPr>
          <a:xfrm>
            <a:off x="3937000" y="3225800"/>
            <a:ext cx="6985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Function calling-in daha geniş anlayışı — hər növ xarici alətin çağırılması.</a:t>
            </a:r>
            <a:endParaRPr lang="en-US" sz="1400"/>
          </a:p>
        </p:txBody>
      </p:sp>
      <p:sp>
        <p:nvSpPr>
          <p:cNvPr id="11" name="r1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3937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12" name="h2"/>
          <p:cNvSpPr txBox="1"/>
          <p:nvPr/>
        </p:nvSpPr>
        <p:spPr>
          <a:xfrm>
            <a:off x="762000" y="43180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OpenAI standartı</a:t>
            </a:r>
            <a:endParaRPr lang="en-US" sz="1500"/>
          </a:p>
        </p:txBody>
      </p:sp>
      <p:sp>
        <p:nvSpPr>
          <p:cNvPr id="13" name="b2"/>
          <p:cNvSpPr txBox="1"/>
          <p:nvPr/>
        </p:nvSpPr>
        <p:spPr>
          <a:xfrm>
            <a:off x="3937000" y="4318000"/>
            <a:ext cx="6985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Client-side control olunan toollar `function` tipində elan olunur.</a:t>
            </a:r>
            <a:endParaRPr lang="en-US" sz="1400"/>
          </a:p>
        </p:txBody>
      </p:sp>
      <p:sp>
        <p:nvSpPr>
          <p:cNvPr id="14" name="r2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50292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15" name="hlbar"/>
          <p:cNvSpPr/>
          <p:nvPr/>
        </p:nvSpPr>
        <p:spPr>
          <a:xfrm>
            <a:off x="762000" y="5537200"/>
            <a:ext cx="50800" cy="508000"/>
          </a:xfrm>
          <a:prstGeom prst="rect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6" name="note"/>
          <p:cNvSpPr txBox="1"/>
          <p:nvPr/>
        </p:nvSpPr>
        <p:spPr>
          <a:xfrm>
            <a:off x="965200" y="55372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Gündəlik danışıqda iki termin çox vaxt sinonim işlənir; fərq texniki detal səviyyəsindədir.</a:t>
            </a:r>
            <a:endParaRPr lang="en-US" sz="1300"/>
          </a:p>
        </p:txBody>
      </p:sp>
      <p:sp>
        <p:nvSpPr>
          <p:cNvPr id="17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8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13/25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MEXANİZM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Tool Calling necə işləyir?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14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code-bg"/>
          <p:cNvSpPr/>
          <p:nvPr/>
        </p:nvSpPr>
        <p:spPr>
          <a:xfrm>
            <a:off x="762000" y="1981200"/>
            <a:ext cx="6350000" cy="2159000"/>
          </a:xfrm>
          <a:prstGeom prst="roundRect">
            <a:avLst>
              <a:gd name="adj" fmla="val 8000"/>
            </a:avLst>
          </a:prstGeom>
          <a:solidFill>
            <a:srgbClr val="243B53"/>
          </a:solidFill>
          <a:ln>
            <a:noFill/>
          </a:ln>
        </p:spPr>
      </p:sp>
      <p:sp>
        <p:nvSpPr>
          <p:cNvPr id="7" name="code-tx"/>
          <p:cNvSpPr txBox="1"/>
          <p:nvPr/>
        </p:nvSpPr>
        <p:spPr>
          <a:xfrm>
            <a:off x="990600" y="2159000"/>
            <a:ext cx="5892800" cy="180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tools=[{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  "name": "check_ip_reputation",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  "description": "IP reputasiyasını yoxla",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  "parameters": {"ip": "string"}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}]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response = model.run(messages, tools)</a:t>
            </a:r>
            <a:endParaRPr lang="en-US" sz="1200"/>
          </a:p>
        </p:txBody>
      </p:sp>
      <p:sp>
        <p:nvSpPr>
          <p:cNvPr id="8" name="b1"/>
          <p:cNvSpPr txBox="1"/>
          <p:nvPr/>
        </p:nvSpPr>
        <p:spPr>
          <a:xfrm>
            <a:off x="762000" y="43942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Toolun adını, arqumentlərini, description-ı və izahları modelə göndərməliyik. Tool call-dan sonra nəticə əsasında yeni output alırıq — növbəti addımlar üçün loop lazımdır.</a:t>
            </a:r>
            <a:endParaRPr lang="en-US" sz="1300"/>
          </a:p>
        </p:txBody>
      </p:sp>
      <p:sp>
        <p:nvSpPr>
          <p:cNvPr id="9" name="warn"/>
          <p:cNvSpPr/>
          <p:nvPr/>
        </p:nvSpPr>
        <p:spPr>
          <a:xfrm>
            <a:off x="7620000" y="2159000"/>
            <a:ext cx="3810000" cy="1905000"/>
          </a:xfrm>
          <a:prstGeom prst="roundRect">
            <a:avLst>
              <a:gd name="adj" fmla="val 9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0" name="wt"/>
          <p:cNvSpPr txBox="1"/>
          <p:nvPr/>
        </p:nvSpPr>
        <p:spPr>
          <a:xfrm>
            <a:off x="7848600" y="2362200"/>
            <a:ext cx="33528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Diqqət:</a:t>
            </a:r>
            <a:r>
              <a:rPr lang="en-US" sz="1300">
                <a:solidFill>
                  <a:srgbClr val="102A43"/>
                </a:solidFill>
                <a:latin typeface="MiSans"/>
                <a:ea typeface="MiSans"/>
              </a:rPr>
              <a:t> toollar «pulsuz» deyil! Tool definition və tool result-lar contextdə saxlanılır — hər tool əlavə token deməkdir.</a:t>
            </a:r>
            <a:endParaRPr lang="en-US" sz="1300"/>
          </a:p>
        </p:txBody>
      </p:sp>
      <p:sp>
        <p:nvSpPr>
          <p:cNvPr id="11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2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14/25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1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TİPOLOGİYA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3 əsas Tool Calling mexanizmi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15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c01 · Native"/>
          <p:cNvSpPr/>
          <p:nvPr/>
        </p:nvSpPr>
        <p:spPr>
          <a:xfrm>
            <a:off x="762000" y="2159000"/>
            <a:ext cx="3352800" cy="24130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7" name="hb01 · Native"/>
          <p:cNvSpPr/>
          <p:nvPr/>
        </p:nvSpPr>
        <p:spPr>
          <a:xfrm>
            <a:off x="762000" y="2159000"/>
            <a:ext cx="3352800" cy="63500"/>
          </a:xfrm>
          <a:prstGeom prst="rect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8" name="ch01 · Native"/>
          <p:cNvSpPr txBox="1"/>
          <p:nvPr/>
        </p:nvSpPr>
        <p:spPr>
          <a:xfrm>
            <a:off x="990600" y="24130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02A43"/>
                </a:solidFill>
                <a:latin typeface="MiSans"/>
                <a:ea typeface="MiSans"/>
              </a:rPr>
              <a:t>01 · Native</a:t>
            </a:r>
            <a:endParaRPr lang="en-US" sz="1600"/>
          </a:p>
        </p:txBody>
      </p:sp>
      <p:sp>
        <p:nvSpPr>
          <p:cNvPr id="9" name="cb01 · Native"/>
          <p:cNvSpPr txBox="1"/>
          <p:nvPr/>
        </p:nvSpPr>
        <p:spPr>
          <a:xfrm>
            <a:off x="990600" y="287020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Modelin train zamanı öyrəndiyi spesifik struktur. Invalid JSON kimi xətalar nadir baş verir.</a:t>
            </a:r>
            <a:endParaRPr lang="en-US" sz="1300"/>
          </a:p>
        </p:txBody>
      </p:sp>
      <p:sp>
        <p:nvSpPr>
          <p:cNvPr id="10" name="c02 · Prompted"/>
          <p:cNvSpPr/>
          <p:nvPr/>
        </p:nvSpPr>
        <p:spPr>
          <a:xfrm>
            <a:off x="4470400" y="2159000"/>
            <a:ext cx="3352800" cy="24130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1" name="ch02 · Prompted"/>
          <p:cNvSpPr txBox="1"/>
          <p:nvPr/>
        </p:nvSpPr>
        <p:spPr>
          <a:xfrm>
            <a:off x="4699000" y="24130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02A43"/>
                </a:solidFill>
                <a:latin typeface="MiSans"/>
                <a:ea typeface="MiSans"/>
              </a:rPr>
              <a:t>02 · Prompted</a:t>
            </a:r>
            <a:endParaRPr lang="en-US" sz="1600"/>
          </a:p>
        </p:txBody>
      </p:sp>
      <p:sp>
        <p:nvSpPr>
          <p:cNvPr id="12" name="cb02 · Prompted"/>
          <p:cNvSpPr txBox="1"/>
          <p:nvPr/>
        </p:nvSpPr>
        <p:spPr>
          <a:xfrm>
            <a:off x="4699000" y="287020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Özümüz qurduğumuz mexanizm: tool definition system prompt-da izah olunur, strukturlu output alınır.</a:t>
            </a:r>
            <a:endParaRPr lang="en-US" sz="1300"/>
          </a:p>
        </p:txBody>
      </p:sp>
      <p:sp>
        <p:nvSpPr>
          <p:cNvPr id="13" name="c03 · Programmatic"/>
          <p:cNvSpPr/>
          <p:nvPr/>
        </p:nvSpPr>
        <p:spPr>
          <a:xfrm>
            <a:off x="8178800" y="2159000"/>
            <a:ext cx="3352800" cy="24130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4" name="ch03 · Programmatic"/>
          <p:cNvSpPr txBox="1"/>
          <p:nvPr/>
        </p:nvSpPr>
        <p:spPr>
          <a:xfrm>
            <a:off x="8407400" y="24130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02A43"/>
                </a:solidFill>
                <a:latin typeface="MiSans"/>
                <a:ea typeface="MiSans"/>
              </a:rPr>
              <a:t>03 · Programmatic</a:t>
            </a:r>
            <a:endParaRPr lang="en-US" sz="1600"/>
          </a:p>
        </p:txBody>
      </p:sp>
      <p:sp>
        <p:nvSpPr>
          <p:cNvPr id="15" name="cb03 · Programmatic"/>
          <p:cNvSpPr txBox="1"/>
          <p:nvPr/>
        </p:nvSpPr>
        <p:spPr>
          <a:xfrm>
            <a:off x="8407400" y="287020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Model kod yazır, sandbox icra edir — növbəti slaydlarda ətraflı.</a:t>
            </a:r>
            <a:endParaRPr lang="en-US" sz="1300"/>
          </a:p>
        </p:txBody>
      </p:sp>
      <p:sp>
        <p:nvSpPr>
          <p:cNvPr id="16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7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15/25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1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SXEM 1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İlk agent loop-u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16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b0"/>
          <p:cNvSpPr/>
          <p:nvPr/>
        </p:nvSpPr>
        <p:spPr>
          <a:xfrm>
            <a:off x="762000" y="2159000"/>
            <a:ext cx="3048000" cy="7620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7" name="t0"/>
          <p:cNvSpPr txBox="1"/>
          <p:nvPr/>
        </p:nvSpPr>
        <p:spPr>
          <a:xfrm>
            <a:off x="939800" y="2260600"/>
            <a:ext cx="2692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Input</a:t>
            </a:r>
            <a:endParaRPr lang="en-US" sz="1300"/>
          </a:p>
          <a:p>
            <a:pPr>
              <a:lnSpc>
                <a:spcPct val="135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system · developer · user + tools</a:t>
            </a:r>
            <a:endParaRPr lang="en-US" sz="1300"/>
          </a:p>
        </p:txBody>
      </p:sp>
      <p:sp>
        <p:nvSpPr>
          <p:cNvPr id="8" name="a0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3911600" y="2438400"/>
            <a:ext cx="508000" cy="2032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9050" cap="rnd">
            <a:solidFill>
              <a:srgbClr val="829AB1"/>
            </a:solidFill>
            <a:round/>
            <a:tailEnd type="arrow"/>
          </a:ln>
        </p:spPr>
      </p:sp>
      <p:sp>
        <p:nvSpPr>
          <p:cNvPr id="9" name="b1"/>
          <p:cNvSpPr/>
          <p:nvPr/>
        </p:nvSpPr>
        <p:spPr>
          <a:xfrm>
            <a:off x="4521200" y="2159000"/>
            <a:ext cx="1778000" cy="762000"/>
          </a:xfrm>
          <a:prstGeom prst="roundRect">
            <a:avLst>
              <a:gd name="adj" fmla="val 10000"/>
            </a:avLst>
          </a:prstGeom>
          <a:solidFill>
            <a:srgbClr val="243B53"/>
          </a:solidFill>
          <a:ln>
            <a:noFill/>
          </a:ln>
        </p:spPr>
      </p:sp>
      <p:sp>
        <p:nvSpPr>
          <p:cNvPr id="10" name="t1"/>
          <p:cNvSpPr txBox="1"/>
          <p:nvPr/>
        </p:nvSpPr>
        <p:spPr>
          <a:xfrm>
            <a:off x="4521200" y="2387600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LLM</a:t>
            </a:r>
            <a:endParaRPr lang="en-US" sz="1500"/>
          </a:p>
        </p:txBody>
      </p:sp>
      <p:sp>
        <p:nvSpPr>
          <p:cNvPr id="11" name="a1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6400800" y="2438400"/>
            <a:ext cx="508000" cy="2032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9050" cap="rnd">
            <a:solidFill>
              <a:srgbClr val="829AB1"/>
            </a:solidFill>
            <a:round/>
            <a:tailEnd type="arrow"/>
          </a:ln>
        </p:spPr>
      </p:sp>
      <p:sp>
        <p:nvSpPr>
          <p:cNvPr id="12" name="b2"/>
          <p:cNvSpPr/>
          <p:nvPr/>
        </p:nvSpPr>
        <p:spPr>
          <a:xfrm>
            <a:off x="7010400" y="2159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3" name="t2"/>
          <p:cNvSpPr txBox="1"/>
          <p:nvPr/>
        </p:nvSpPr>
        <p:spPr>
          <a:xfrm>
            <a:off x="7188200" y="2260600"/>
            <a:ext cx="1930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Tool call var?</a:t>
            </a:r>
            <a:endParaRPr lang="en-US" sz="1300"/>
          </a:p>
          <a:p>
            <a:pPr>
              <a:lnSpc>
                <a:spcPct val="135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varsa → icra → nəticə LLM-ə</a:t>
            </a:r>
            <a:endParaRPr lang="en-US" sz="1300"/>
          </a:p>
        </p:txBody>
      </p:sp>
      <p:sp>
        <p:nvSpPr>
          <p:cNvPr id="14" name="looplbl"/>
          <p:cNvSpPr txBox="1"/>
          <p:nvPr/>
        </p:nvSpPr>
        <p:spPr>
          <a:xfrm>
            <a:off x="4572000" y="3175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829AB1"/>
                </a:solidFill>
                <a:latin typeface="MiSans"/>
                <a:ea typeface="MiSans"/>
              </a:rPr>
              <a:t>tool call yoxdursa → loop yekunlaşır</a:t>
            </a:r>
            <a:endParaRPr lang="en-US" sz="1200"/>
          </a:p>
        </p:txBody>
      </p:sp>
      <p:sp>
        <p:nvSpPr>
          <p:cNvPr id="15" name="loopback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3810000" y="3556000"/>
            <a:ext cx="431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9050" cap="rnd">
            <a:solidFill>
              <a:srgbClr val="F4C95D"/>
            </a:solidFill>
            <a:round/>
          </a:ln>
        </p:spPr>
      </p:sp>
      <p:sp>
        <p:nvSpPr>
          <p:cNvPr id="16" name="ret"/>
          <p:cNvSpPr txBox="1"/>
          <p:nvPr/>
        </p:nvSpPr>
        <p:spPr>
          <a:xfrm>
            <a:off x="3810000" y="36576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nəticə geri LLM-ə qayıdır ↺</a:t>
            </a:r>
            <a:endParaRPr lang="en-US" sz="1100"/>
          </a:p>
        </p:txBody>
      </p:sp>
      <p:sp>
        <p:nvSpPr>
          <p:cNvPr id="17" name="hlbar"/>
          <p:cNvSpPr/>
          <p:nvPr/>
        </p:nvSpPr>
        <p:spPr>
          <a:xfrm>
            <a:off x="762000" y="4572000"/>
            <a:ext cx="50800" cy="558800"/>
          </a:xfrm>
          <a:prstGeom prst="rect">
            <a:avLst/>
          </a:prstGeom>
          <a:solidFill>
            <a:srgbClr val="E98B73"/>
          </a:solidFill>
          <a:ln>
            <a:noFill/>
          </a:ln>
        </p:spPr>
      </p:sp>
      <p:sp>
        <p:nvSpPr>
          <p:cNvPr id="18" name="weak"/>
          <p:cNvSpPr txBox="1"/>
          <p:nvPr/>
        </p:nvSpPr>
        <p:spPr>
          <a:xfrm>
            <a:off x="965200" y="4572000"/>
            <a:ext cx="1016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Əksik tərəf:</a:t>
            </a:r>
            <a:r>
              <a:rPr lang="en-US" sz="1400">
                <a:solidFill>
                  <a:srgbClr val="102A43"/>
                </a:solidFill>
                <a:latin typeface="MiSans"/>
                <a:ea typeface="MiSans"/>
              </a:rPr>
              <a:t> user cəmi 1 dəfə prompt yaza bilir və loop bitir — davamlı dialoq yoxdur.</a:t>
            </a:r>
            <a:endParaRPr lang="en-US" sz="1400"/>
          </a:p>
        </p:txBody>
      </p:sp>
      <p:sp>
        <p:nvSpPr>
          <p:cNvPr id="19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20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16/25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1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SXEM 2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Sonsuz dövrə keçid — primitiv agent yaranır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17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n0"/>
          <p:cNvSpPr txBox="1"/>
          <p:nvPr/>
        </p:nvSpPr>
        <p:spPr>
          <a:xfrm>
            <a:off x="762000" y="2032000"/>
            <a:ext cx="330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1</a:t>
            </a:r>
            <a:endParaRPr lang="en-US" sz="1500"/>
          </a:p>
        </p:txBody>
      </p:sp>
      <p:sp>
        <p:nvSpPr>
          <p:cNvPr id="7" name="p0"/>
          <p:cNvSpPr txBox="1"/>
          <p:nvPr/>
        </p:nvSpPr>
        <p:spPr>
          <a:xfrm>
            <a:off x="1168400" y="2032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İstifadəçidən input gələnə qədər gözləyir.</a:t>
            </a:r>
            <a:endParaRPr lang="en-US" sz="1400"/>
          </a:p>
        </p:txBody>
      </p:sp>
      <p:sp>
        <p:nvSpPr>
          <p:cNvPr id="8" name="n1"/>
          <p:cNvSpPr txBox="1"/>
          <p:nvPr/>
        </p:nvSpPr>
        <p:spPr>
          <a:xfrm>
            <a:off x="762000" y="2717800"/>
            <a:ext cx="330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2</a:t>
            </a:r>
            <a:endParaRPr lang="en-US" sz="1500"/>
          </a:p>
        </p:txBody>
      </p:sp>
      <p:sp>
        <p:nvSpPr>
          <p:cNvPr id="9" name="p1"/>
          <p:cNvSpPr txBox="1"/>
          <p:nvPr/>
        </p:nvSpPr>
        <p:spPr>
          <a:xfrm>
            <a:off x="1168400" y="27178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Input LLM-ə göndərilir → LLM tool call qərarı verir.</a:t>
            </a:r>
            <a:endParaRPr lang="en-US" sz="1400"/>
          </a:p>
        </p:txBody>
      </p:sp>
      <p:sp>
        <p:nvSpPr>
          <p:cNvPr id="10" name="n2"/>
          <p:cNvSpPr txBox="1"/>
          <p:nvPr/>
        </p:nvSpPr>
        <p:spPr>
          <a:xfrm>
            <a:off x="762000" y="3403600"/>
            <a:ext cx="330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3</a:t>
            </a:r>
            <a:endParaRPr lang="en-US" sz="1500"/>
          </a:p>
        </p:txBody>
      </p:sp>
      <p:sp>
        <p:nvSpPr>
          <p:cNvPr id="11" name="p2"/>
          <p:cNvSpPr txBox="1"/>
          <p:nvPr/>
        </p:nvSpPr>
        <p:spPr>
          <a:xfrm>
            <a:off x="1168400" y="34036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Tool icra olunur → nəticə LLM-ə qayıdır.</a:t>
            </a:r>
            <a:endParaRPr lang="en-US" sz="1400"/>
          </a:p>
        </p:txBody>
      </p:sp>
      <p:sp>
        <p:nvSpPr>
          <p:cNvPr id="12" name="n3"/>
          <p:cNvSpPr txBox="1"/>
          <p:nvPr/>
        </p:nvSpPr>
        <p:spPr>
          <a:xfrm>
            <a:off x="762000" y="4089400"/>
            <a:ext cx="330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4</a:t>
            </a:r>
            <a:endParaRPr lang="en-US" sz="1500"/>
          </a:p>
        </p:txBody>
      </p:sp>
      <p:sp>
        <p:nvSpPr>
          <p:cNvPr id="13" name="p3"/>
          <p:cNvSpPr txBox="1"/>
          <p:nvPr/>
        </p:nvSpPr>
        <p:spPr>
          <a:xfrm>
            <a:off x="1168400" y="40894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Tool call yoxdursa → yenidən user input gözlənir.</a:t>
            </a:r>
            <a:endParaRPr lang="en-US" sz="1400"/>
          </a:p>
        </p:txBody>
      </p:sp>
      <p:sp>
        <p:nvSpPr>
          <p:cNvPr id="14" name="def"/>
          <p:cNvSpPr/>
          <p:nvPr/>
        </p:nvSpPr>
        <p:spPr>
          <a:xfrm>
            <a:off x="6858000" y="2032000"/>
            <a:ext cx="4572000" cy="1524000"/>
          </a:xfrm>
          <a:prstGeom prst="roundRect">
            <a:avLst>
              <a:gd name="adj" fmla="val 9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5" name="deft"/>
          <p:cNvSpPr txBox="1"/>
          <p:nvPr/>
        </p:nvSpPr>
        <p:spPr>
          <a:xfrm>
            <a:off x="7086600" y="2235200"/>
            <a:ext cx="41148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Nəticə:</a:t>
            </a:r>
            <a:r>
              <a:rPr lang="en-US" sz="1400">
                <a:solidFill>
                  <a:srgbClr val="102A43"/>
                </a:solidFill>
                <a:latin typeface="MiSans"/>
                <a:ea typeface="MiSans"/>
              </a:rPr>
              <a:t> tapşırığı yerinə yetirmək üçün alətlərdən istifadə edib qərar verən sistem = </a:t>
            </a: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AGENT</a:t>
            </a:r>
            <a:endParaRPr lang="en-US" sz="1400"/>
          </a:p>
        </p:txBody>
      </p:sp>
      <p:sp>
        <p:nvSpPr>
          <p:cNvPr id="16" name="risk"/>
          <p:cNvSpPr/>
          <p:nvPr/>
        </p:nvSpPr>
        <p:spPr>
          <a:xfrm>
            <a:off x="6858000" y="3810000"/>
            <a:ext cx="4572000" cy="1143000"/>
          </a:xfrm>
          <a:prstGeom prst="roundRect">
            <a:avLst>
              <a:gd name="adj" fmla="val 9000"/>
            </a:avLst>
          </a:prstGeom>
          <a:solidFill>
            <a:srgbClr val="E98B73">
              <a:alpha val="12157"/>
            </a:srgbClr>
          </a:solidFill>
          <a:ln>
            <a:noFill/>
          </a:ln>
        </p:spPr>
      </p:sp>
      <p:sp>
        <p:nvSpPr>
          <p:cNvPr id="17" name="riskt"/>
          <p:cNvSpPr txBox="1"/>
          <p:nvPr/>
        </p:nvSpPr>
        <p:spPr>
          <a:xfrm>
            <a:off x="7086600" y="3987800"/>
            <a:ext cx="4114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334E68"/>
                </a:solidFill>
                <a:latin typeface="MiSans"/>
                <a:ea typeface="MiSans"/>
              </a:rPr>
              <a:t>Risk:</a:t>
            </a: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 bəs LLM halüsinasiya edib </a:t>
            </a: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rm -rf /</a:t>
            </a: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 icra etmək istəsə, nə olacaq?</a:t>
            </a:r>
            <a:endParaRPr lang="en-US" sz="1300"/>
          </a:p>
        </p:txBody>
      </p:sp>
      <p:sp>
        <p:nvSpPr>
          <p:cNvPr id="18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9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17/25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1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SXEM 3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Təhlükəsizlik: Approval (təsdiqləmə) mexanizmi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18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dot0"/>
          <p:cNvSpPr/>
          <p:nvPr/>
        </p:nvSpPr>
        <p:spPr>
          <a:xfrm>
            <a:off x="787400" y="20828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7" name="h0"/>
          <p:cNvSpPr txBox="1"/>
          <p:nvPr/>
        </p:nvSpPr>
        <p:spPr>
          <a:xfrm>
            <a:off x="1117600" y="2006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Təhlil</a:t>
            </a:r>
            <a:endParaRPr lang="en-US" sz="1500"/>
          </a:p>
        </p:txBody>
      </p:sp>
      <p:sp>
        <p:nvSpPr>
          <p:cNvPr id="8" name="b0"/>
          <p:cNvSpPr txBox="1"/>
          <p:nvPr/>
        </p:nvSpPr>
        <p:spPr>
          <a:xfrm>
            <a:off x="1117600" y="22860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Çağrılan tool və arqumentləri icradan əvvəl təhlil olunur.</a:t>
            </a:r>
            <a:endParaRPr lang="en-US" sz="1300"/>
          </a:p>
        </p:txBody>
      </p:sp>
      <p:sp>
        <p:nvSpPr>
          <p:cNvPr id="9" name="dot1"/>
          <p:cNvSpPr/>
          <p:nvPr/>
        </p:nvSpPr>
        <p:spPr>
          <a:xfrm>
            <a:off x="787400" y="30480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0" name="h1"/>
          <p:cNvSpPr txBox="1"/>
          <p:nvPr/>
        </p:nvSpPr>
        <p:spPr>
          <a:xfrm>
            <a:off x="1117600" y="29718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İcazə</a:t>
            </a:r>
            <a:endParaRPr lang="en-US" sz="1500"/>
          </a:p>
        </p:txBody>
      </p:sp>
      <p:sp>
        <p:nvSpPr>
          <p:cNvPr id="11" name="b1"/>
          <p:cNvSpPr txBox="1"/>
          <p:nvPr/>
        </p:nvSpPr>
        <p:spPr>
          <a:xfrm>
            <a:off x="1117600" y="32512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Lazım gələndə user-dən təsdiq alınır — hər `ls` üçün yox, təhlükəli əməliyyatlar üçün.</a:t>
            </a:r>
            <a:endParaRPr lang="en-US" sz="1300"/>
          </a:p>
        </p:txBody>
      </p:sp>
      <p:sp>
        <p:nvSpPr>
          <p:cNvPr id="12" name="dot2"/>
          <p:cNvSpPr/>
          <p:nvPr/>
        </p:nvSpPr>
        <p:spPr>
          <a:xfrm>
            <a:off x="787400" y="40132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3" name="h2"/>
          <p:cNvSpPr txBox="1"/>
          <p:nvPr/>
        </p:nvSpPr>
        <p:spPr>
          <a:xfrm>
            <a:off x="1117600" y="3937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Yolo modu</a:t>
            </a:r>
            <a:endParaRPr lang="en-US" sz="1500"/>
          </a:p>
        </p:txBody>
      </p:sp>
      <p:sp>
        <p:nvSpPr>
          <p:cNvPr id="14" name="b2"/>
          <p:cNvSpPr txBox="1"/>
          <p:nvPr/>
        </p:nvSpPr>
        <p:spPr>
          <a:xfrm>
            <a:off x="1117600" y="42164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«Dangerously-skip-permissions» — approval-u bypass edib birbaşa icra.</a:t>
            </a:r>
            <a:endParaRPr lang="en-US" sz="1300"/>
          </a:p>
        </p:txBody>
      </p:sp>
      <p:sp>
        <p:nvSpPr>
          <p:cNvPr id="15" name="dot3"/>
          <p:cNvSpPr/>
          <p:nvPr/>
        </p:nvSpPr>
        <p:spPr>
          <a:xfrm>
            <a:off x="787400" y="4978400"/>
            <a:ext cx="127000" cy="127000"/>
          </a:xfrm>
          <a:prstGeom prst="ellipse">
            <a:avLst/>
          </a:prstGeom>
          <a:solidFill>
            <a:srgbClr val="E98B73"/>
          </a:solidFill>
          <a:ln>
            <a:noFill/>
          </a:ln>
        </p:spPr>
      </p:sp>
      <p:sp>
        <p:nvSpPr>
          <p:cNvPr id="16" name="h3"/>
          <p:cNvSpPr txBox="1"/>
          <p:nvPr/>
        </p:nvSpPr>
        <p:spPr>
          <a:xfrm>
            <a:off x="1117600" y="49022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Auto-reject</a:t>
            </a:r>
            <a:endParaRPr lang="en-US" sz="1500"/>
          </a:p>
        </p:txBody>
      </p:sp>
      <p:sp>
        <p:nvSpPr>
          <p:cNvPr id="17" name="b3"/>
          <p:cNvSpPr txBox="1"/>
          <p:nvPr/>
        </p:nvSpPr>
        <p:spPr>
          <a:xfrm>
            <a:off x="1117600" y="51816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Bypass olsa belə, bilinən zərərli əmrlər (rm -rf / kimi) detect edilib rədd edilə bilər.</a:t>
            </a:r>
            <a:endParaRPr lang="en-US" sz="1300"/>
          </a:p>
        </p:txBody>
      </p:sp>
      <p:sp>
        <p:nvSpPr>
          <p:cNvPr id="18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9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18/25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1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SXEM 4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Tam Harness sxemi — Agent və Harness sərhədləri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19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cm"/>
          <p:cNvSpPr/>
          <p:nvPr/>
        </p:nvSpPr>
        <p:spPr>
          <a:xfrm>
            <a:off x="762000" y="2032000"/>
            <a:ext cx="3048000" cy="1016000"/>
          </a:xfrm>
          <a:prstGeom prst="roundRect">
            <a:avLst>
              <a:gd name="adj" fmla="val 9000"/>
            </a:avLst>
          </a:prstGeom>
          <a:solidFill>
            <a:srgbClr val="243B53"/>
          </a:solidFill>
          <a:ln>
            <a:noFill/>
          </a:ln>
        </p:spPr>
      </p:sp>
      <p:sp>
        <p:nvSpPr>
          <p:cNvPr id="7" name="cmt"/>
          <p:cNvSpPr txBox="1"/>
          <p:nvPr/>
        </p:nvSpPr>
        <p:spPr>
          <a:xfrm>
            <a:off x="939800" y="2184400"/>
            <a:ext cx="2692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Context Manager</a:t>
            </a:r>
            <a:endParaRPr lang="en-US" sz="1400"/>
          </a:p>
          <a:p>
            <a:pPr>
              <a:lnSpc>
                <a:spcPct val="135000"/>
              </a:lnSpc>
            </a:pPr>
            <a:r>
              <a:rPr lang="en-US" sz="1100">
                <a:solidFill>
                  <a:srgbClr val="9FB3C8"/>
                </a:solidFill>
                <a:latin typeface="MiSans"/>
                <a:ea typeface="MiSans"/>
              </a:rPr>
              <a:t>bütün inputları birləşdirir</a:t>
            </a:r>
            <a:endParaRPr lang="en-US" sz="1400"/>
          </a:p>
        </p:txBody>
      </p:sp>
      <p:sp>
        <p:nvSpPr>
          <p:cNvPr id="8" name="a1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3911600" y="2438400"/>
            <a:ext cx="635000" cy="2032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9050" cap="rnd">
            <a:solidFill>
              <a:srgbClr val="829AB1"/>
            </a:solidFill>
            <a:round/>
            <a:tailEnd type="arrow"/>
          </a:ln>
        </p:spPr>
      </p:sp>
      <p:sp>
        <p:nvSpPr>
          <p:cNvPr id="9" name="llm"/>
          <p:cNvSpPr/>
          <p:nvPr/>
        </p:nvSpPr>
        <p:spPr>
          <a:xfrm>
            <a:off x="4648200" y="2032000"/>
            <a:ext cx="1905000" cy="1016000"/>
          </a:xfrm>
          <a:prstGeom prst="roundRect">
            <a:avLst>
              <a:gd name="adj" fmla="val 9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0" name="llmt"/>
          <p:cNvSpPr txBox="1"/>
          <p:nvPr/>
        </p:nvSpPr>
        <p:spPr>
          <a:xfrm>
            <a:off x="4648200" y="23876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102A43"/>
                </a:solidFill>
                <a:latin typeface="MiSans"/>
                <a:ea typeface="MiSans"/>
              </a:rPr>
              <a:t>LLM</a:t>
            </a:r>
            <a:endParaRPr lang="en-US" sz="1600"/>
          </a:p>
        </p:txBody>
      </p:sp>
      <p:sp>
        <p:nvSpPr>
          <p:cNvPr id="11" name="a2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6654800" y="2438400"/>
            <a:ext cx="635000" cy="2032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9050" cap="rnd">
            <a:solidFill>
              <a:srgbClr val="829AB1"/>
            </a:solidFill>
            <a:round/>
            <a:tailEnd type="arrow"/>
          </a:ln>
        </p:spPr>
      </p:sp>
      <p:sp>
        <p:nvSpPr>
          <p:cNvPr id="12" name="tls"/>
          <p:cNvSpPr/>
          <p:nvPr/>
        </p:nvSpPr>
        <p:spPr>
          <a:xfrm>
            <a:off x="7391400" y="2032000"/>
            <a:ext cx="2540000" cy="1016000"/>
          </a:xfrm>
          <a:prstGeom prst="roundRect">
            <a:avLst>
              <a:gd name="adj" fmla="val 9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3" name="tlst"/>
          <p:cNvSpPr txBox="1"/>
          <p:nvPr/>
        </p:nvSpPr>
        <p:spPr>
          <a:xfrm>
            <a:off x="7569200" y="2184400"/>
            <a:ext cx="2184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Tools</a:t>
            </a:r>
            <a:endParaRPr lang="en-US" sz="1400"/>
          </a:p>
          <a:p>
            <a:pPr>
              <a:lnSpc>
                <a:spcPct val="135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icra + approval + hooks</a:t>
            </a:r>
            <a:endParaRPr lang="en-US" sz="1400"/>
          </a:p>
        </p:txBody>
      </p:sp>
      <p:sp>
        <p:nvSpPr>
          <p:cNvPr id="14" name="mem"/>
          <p:cNvSpPr/>
          <p:nvPr/>
        </p:nvSpPr>
        <p:spPr>
          <a:xfrm>
            <a:off x="7391400" y="3429000"/>
            <a:ext cx="2540000" cy="76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</p:sp>
      <p:sp>
        <p:nvSpPr>
          <p:cNvPr id="15" name="memt"/>
          <p:cNvSpPr txBox="1"/>
          <p:nvPr/>
        </p:nvSpPr>
        <p:spPr>
          <a:xfrm>
            <a:off x="7569200" y="3556000"/>
            <a:ext cx="2184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102A43"/>
                </a:solidFill>
                <a:latin typeface="MiSans"/>
                <a:ea typeface="MiSans"/>
              </a:rPr>
              <a:t>Short-term memory</a:t>
            </a:r>
            <a:endParaRPr lang="en-US" sz="1200"/>
          </a:p>
          <a:p>
            <a:pPr>
              <a:lnSpc>
                <a:spcPct val="135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sessiya ərzində olan hər şey</a:t>
            </a:r>
            <a:endParaRPr lang="en-US" sz="1200"/>
          </a:p>
        </p:txBody>
      </p:sp>
      <p:sp>
        <p:nvSpPr>
          <p:cNvPr id="16" name="back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2540000" y="3556000"/>
            <a:ext cx="304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9050" cap="rnd">
            <a:solidFill>
              <a:srgbClr val="F4C95D"/>
            </a:solidFill>
            <a:round/>
          </a:ln>
        </p:spPr>
      </p:sp>
      <p:sp>
        <p:nvSpPr>
          <p:cNvPr id="17" name="backl"/>
          <p:cNvSpPr txBox="1"/>
          <p:nvPr/>
        </p:nvSpPr>
        <p:spPr>
          <a:xfrm>
            <a:off x="2540000" y="36576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nəticələr geri ↺</a:t>
            </a:r>
            <a:endParaRPr lang="en-US" sz="1100"/>
          </a:p>
        </p:txBody>
      </p:sp>
      <p:sp>
        <p:nvSpPr>
          <p:cNvPr id="18" name="hlbar"/>
          <p:cNvSpPr/>
          <p:nvPr/>
        </p:nvSpPr>
        <p:spPr>
          <a:xfrm>
            <a:off x="762000" y="4826000"/>
            <a:ext cx="50800" cy="558800"/>
          </a:xfrm>
          <a:prstGeom prst="rect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9" name="note"/>
          <p:cNvSpPr txBox="1"/>
          <p:nvPr/>
        </p:nvSpPr>
        <p:spPr>
          <a:xfrm>
            <a:off x="965200" y="4826000"/>
            <a:ext cx="1041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Agent və harness arasındakı sərhədlər bəzən bulanıqdır və gələcəkdə daha da bulanıqlaşa bilər — əsas olan ümumi məntiqi anlamaqdır.</a:t>
            </a:r>
            <a:endParaRPr lang="en-US" sz="1300"/>
          </a:p>
        </p:txBody>
      </p:sp>
      <p:sp>
        <p:nvSpPr>
          <p:cNvPr id="20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21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19/25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2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PROBLEM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Tool Calling-də vaxt və token itkisi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20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sc"/>
          <p:cNvSpPr txBox="1"/>
          <p:nvPr/>
        </p:nvSpPr>
        <p:spPr>
          <a:xfrm>
            <a:off x="762000" y="2006600"/>
            <a:ext cx="685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334E68"/>
                </a:solidFill>
                <a:latin typeface="MiSans"/>
                <a:ea typeface="MiSans"/>
              </a:rPr>
              <a:t>Ssenari:</a:t>
            </a: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 model </a:t>
            </a: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check_ip_reputation</a:t>
            </a: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 çağırır → nəticəyə baxır → yaxşıdırsa </a:t>
            </a: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allow_email</a:t>
            </a: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, pisdisə </a:t>
            </a: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quarantine_email</a:t>
            </a: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 çağırır.</a:t>
            </a:r>
            <a:endParaRPr lang="en-US" sz="1400"/>
          </a:p>
        </p:txBody>
      </p:sp>
      <p:sp>
        <p:nvSpPr>
          <p:cNvPr id="7" name="code-bg"/>
          <p:cNvSpPr/>
          <p:nvPr/>
        </p:nvSpPr>
        <p:spPr>
          <a:xfrm>
            <a:off x="762000" y="29464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243B53"/>
          </a:solidFill>
          <a:ln>
            <a:noFill/>
          </a:ln>
        </p:spPr>
      </p:sp>
      <p:sp>
        <p:nvSpPr>
          <p:cNvPr id="8" name="code-tx"/>
          <p:cNvSpPr txBox="1"/>
          <p:nvPr/>
        </p:nvSpPr>
        <p:spPr>
          <a:xfrm>
            <a:off x="990600" y="3124200"/>
            <a:ext cx="64008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call 1: check_ip_reputation(ip)   → ~N token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call 2: nəticəni oxu + qərar ver  → ~N token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call 3: allow_email(email_id)     → ~N token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# sadə if/else üçün 3 ayrı LLM dövrü</a:t>
            </a:r>
            <a:endParaRPr lang="en-US" sz="1200"/>
          </a:p>
        </p:txBody>
      </p:sp>
      <p:sp>
        <p:nvSpPr>
          <p:cNvPr id="9" name="hlbar"/>
          <p:cNvSpPr/>
          <p:nvPr/>
        </p:nvSpPr>
        <p:spPr>
          <a:xfrm>
            <a:off x="762000" y="4800600"/>
            <a:ext cx="50800" cy="558800"/>
          </a:xfrm>
          <a:prstGeom prst="rect">
            <a:avLst/>
          </a:prstGeom>
          <a:solidFill>
            <a:srgbClr val="E98B73"/>
          </a:solidFill>
          <a:ln>
            <a:noFill/>
          </a:ln>
        </p:spPr>
      </p:sp>
      <p:sp>
        <p:nvSpPr>
          <p:cNvPr id="10" name="p"/>
          <p:cNvSpPr txBox="1"/>
          <p:nvPr/>
        </p:nvSpPr>
        <p:spPr>
          <a:xfrm>
            <a:off x="965200" y="4800600"/>
            <a:ext cx="1041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Problem:</a:t>
            </a:r>
            <a:r>
              <a:rPr lang="en-US" sz="1400">
                <a:solidFill>
                  <a:srgbClr val="102A43"/>
                </a:solidFill>
                <a:latin typeface="MiSans"/>
                <a:ea typeface="MiSans"/>
              </a:rPr>
              <a:t> sadə məntiq üçün nə qədər token yandırıldı və vaxt itirildi! Bu, modeli train edən şirkətlərin də problemidir.</a:t>
            </a:r>
            <a:endParaRPr lang="en-US" sz="1400"/>
          </a:p>
        </p:txBody>
      </p:sp>
      <p:sp>
        <p:nvSpPr>
          <p:cNvPr id="11" name="bridge"/>
          <p:cNvSpPr txBox="1"/>
          <p:nvPr/>
        </p:nvSpPr>
        <p:spPr>
          <a:xfrm>
            <a:off x="8128000" y="2006600"/>
            <a:ext cx="330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Həll:</a:t>
            </a:r>
            <a:r>
              <a:rPr lang="en-US" sz="1500">
                <a:solidFill>
                  <a:srgbClr val="102A43"/>
                </a:solidFill>
                <a:latin typeface="MiSans"/>
                <a:ea typeface="MiSans"/>
              </a:rPr>
              <a:t> Programmatic Tool Calling →</a:t>
            </a:r>
            <a:endParaRPr lang="en-US" sz="1500"/>
          </a:p>
        </p:txBody>
      </p:sp>
      <p:sp>
        <p:nvSpPr>
          <p:cNvPr id="12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3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20/25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2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HƏLL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Programmatic Tool Calling — model kod yazır, sandbox icra edir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21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code-bg"/>
          <p:cNvSpPr/>
          <p:nvPr/>
        </p:nvSpPr>
        <p:spPr>
          <a:xfrm>
            <a:off x="762000" y="1981200"/>
            <a:ext cx="6604000" cy="1905000"/>
          </a:xfrm>
          <a:prstGeom prst="roundRect">
            <a:avLst>
              <a:gd name="adj" fmla="val 8000"/>
            </a:avLst>
          </a:prstGeom>
          <a:solidFill>
            <a:srgbClr val="243B53"/>
          </a:solidFill>
          <a:ln>
            <a:noFill/>
          </a:ln>
        </p:spPr>
      </p:sp>
      <p:sp>
        <p:nvSpPr>
          <p:cNvPr id="7" name="code-tx"/>
          <p:cNvSpPr txBox="1"/>
          <p:nvPr/>
        </p:nvSpPr>
        <p:spPr>
          <a:xfrm>
            <a:off x="990600" y="2159000"/>
            <a:ext cx="6146800" cy="154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reputation = check_ip_reputation(IP)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if reputation &gt; 50: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allow_email(email_id)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else: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E4ECF4"/>
                </a:solidFill>
                <a:latin typeface="Consolas"/>
                <a:ea typeface="Consolas"/>
              </a:rPr>
              <a:t>  quarantine_email(email_id)</a:t>
            </a:r>
            <a:endParaRPr lang="en-US" sz="1300"/>
          </a:p>
        </p:txBody>
      </p:sp>
      <p:sp>
        <p:nvSpPr>
          <p:cNvPr id="8" name="b1"/>
          <p:cNvSpPr txBox="1"/>
          <p:nvPr/>
        </p:nvSpPr>
        <p:spPr>
          <a:xfrm>
            <a:off x="7874000" y="19812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Model </a:t>
            </a:r>
            <a:r>
              <a:rPr lang="en-US" sz="1300" b="1">
                <a:solidFill>
                  <a:srgbClr val="334E68"/>
                </a:solidFill>
                <a:latin typeface="MiSans"/>
                <a:ea typeface="MiSans"/>
              </a:rPr>
              <a:t>bir dəfə</a:t>
            </a: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 tool call edib məntiqi kod kimi qurur; harness bu kodu </a:t>
            </a:r>
            <a:r>
              <a:rPr lang="en-US" sz="1300" b="1">
                <a:solidFill>
                  <a:srgbClr val="334E68"/>
                </a:solidFill>
                <a:latin typeface="MiSans"/>
                <a:ea typeface="MiSans"/>
              </a:rPr>
              <a:t>sandbox</a:t>
            </a:r>
            <a:r>
              <a:rPr lang="en-US" sz="1300">
                <a:solidFill>
                  <a:srgbClr val="334E68"/>
                </a:solidFill>
                <a:latin typeface="MiSans"/>
                <a:ea typeface="MiSans"/>
              </a:rPr>
              <a:t> içində icra edir.</a:t>
            </a:r>
            <a:endParaRPr lang="en-US" sz="1300"/>
          </a:p>
        </p:txBody>
      </p:sp>
      <p:sp>
        <p:nvSpPr>
          <p:cNvPr id="9" name="safe"/>
          <p:cNvSpPr/>
          <p:nvPr/>
        </p:nvSpPr>
        <p:spPr>
          <a:xfrm>
            <a:off x="7874000" y="3327400"/>
            <a:ext cx="3556000" cy="1397000"/>
          </a:xfrm>
          <a:prstGeom prst="roundRect">
            <a:avLst>
              <a:gd name="adj" fmla="val 9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0" name="safet"/>
          <p:cNvSpPr txBox="1"/>
          <p:nvPr/>
        </p:nvSpPr>
        <p:spPr>
          <a:xfrm>
            <a:off x="8102600" y="3505200"/>
            <a:ext cx="30988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102A43"/>
                </a:solidFill>
                <a:latin typeface="MiSans"/>
                <a:ea typeface="MiSans"/>
              </a:rPr>
              <a:t>Təhlükəsizlik:</a:t>
            </a:r>
            <a:r>
              <a:rPr lang="en-US" sz="1300">
                <a:solidFill>
                  <a:srgbClr val="102A43"/>
                </a:solidFill>
                <a:latin typeface="MiSans"/>
                <a:ea typeface="MiSans"/>
              </a:rPr>
              <a:t> sandbox-un internetə çıxışı yoxdur; yalnız spesifik faylları oxuma/yazma icazəsi var.</a:t>
            </a:r>
            <a:endParaRPr lang="en-US" sz="1300"/>
          </a:p>
        </p:txBody>
      </p:sp>
      <p:sp>
        <p:nvSpPr>
          <p:cNvPr id="11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2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21/25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2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STANDART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MCP — Model Context Protocol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22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q"/>
          <p:cNvSpPr txBox="1"/>
          <p:nvPr/>
        </p:nvSpPr>
        <p:spPr>
          <a:xfrm>
            <a:off x="762000" y="1981200"/>
            <a:ext cx="1041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Sual:</a:t>
            </a:r>
            <a:r>
              <a:rPr lang="en-US" sz="1500">
                <a:solidFill>
                  <a:srgbClr val="102A43"/>
                </a:solidFill>
                <a:latin typeface="MiSans"/>
                <a:ea typeface="MiSans"/>
              </a:rPr>
              <a:t> hər dəfə 0-dan tool yazıb error-ları handle etməliyik?</a:t>
            </a:r>
            <a:endParaRPr lang="en-US" sz="1500"/>
          </a:p>
        </p:txBody>
      </p:sp>
      <p:sp>
        <p:nvSpPr>
          <p:cNvPr id="7" name="a"/>
          <p:cNvSpPr txBox="1"/>
          <p:nvPr/>
        </p:nvSpPr>
        <p:spPr>
          <a:xfrm>
            <a:off x="762000" y="2413000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334E68"/>
                </a:solidFill>
                <a:latin typeface="MiSans"/>
                <a:ea typeface="MiSans"/>
              </a:rPr>
              <a:t>Cavab: MCP.</a:t>
            </a: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 Tool-ları harnesslərə əlavə etmək üçün açıq standart: tool-lar xarici MCP server tərəfindən elan olunur, harness onları siyahısına əlavə edib modelə göndərir.</a:t>
            </a:r>
            <a:endParaRPr lang="en-US" sz="1400"/>
          </a:p>
        </p:txBody>
      </p:sp>
      <p:sp>
        <p:nvSpPr>
          <p:cNvPr id="8" name="code-bg"/>
          <p:cNvSpPr/>
          <p:nvPr/>
        </p:nvSpPr>
        <p:spPr>
          <a:xfrm>
            <a:off x="762000" y="3276600"/>
            <a:ext cx="6604000" cy="1651000"/>
          </a:xfrm>
          <a:prstGeom prst="roundRect">
            <a:avLst>
              <a:gd name="adj" fmla="val 8000"/>
            </a:avLst>
          </a:prstGeom>
          <a:solidFill>
            <a:srgbClr val="243B53"/>
          </a:solidFill>
          <a:ln>
            <a:noFill/>
          </a:ln>
        </p:spPr>
      </p:sp>
      <p:sp>
        <p:nvSpPr>
          <p:cNvPr id="9" name="code-tx"/>
          <p:cNvSpPr txBox="1"/>
          <p:nvPr/>
        </p:nvSpPr>
        <p:spPr>
          <a:xfrm>
            <a:off x="990600" y="3454400"/>
            <a:ext cx="6146800" cy="129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from fastmcp import FastMCP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mcp = FastMCP("security-tools")</a:t>
            </a:r>
            <a:endParaRPr lang="en-US" sz="1200"/>
          </a:p>
          <a:p>
            <a:pPr>
              <a:lnSpc>
                <a:spcPct val="145000"/>
              </a:lnSpc>
            </a:pP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@mcp.tool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def check_ip_reputation(ip: str) -&gt; int: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  ...</a:t>
            </a:r>
            <a:endParaRPr lang="en-US" sz="1200"/>
          </a:p>
        </p:txBody>
      </p:sp>
      <p:sp>
        <p:nvSpPr>
          <p:cNvPr id="10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1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22/25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2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İNTEQRASİYA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MCP ilə OpenAI modellərinin əlaqəsi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23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dot0"/>
          <p:cNvSpPr/>
          <p:nvPr/>
        </p:nvSpPr>
        <p:spPr>
          <a:xfrm>
            <a:off x="787400" y="21082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7" name="p0"/>
          <p:cNvSpPr txBox="1"/>
          <p:nvPr/>
        </p:nvSpPr>
        <p:spPr>
          <a:xfrm>
            <a:off x="1117600" y="2057400"/>
            <a:ext cx="546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MCP serverə qoşul → tool-lar discover olur.</a:t>
            </a:r>
            <a:endParaRPr lang="en-US" sz="1400"/>
          </a:p>
        </p:txBody>
      </p:sp>
      <p:sp>
        <p:nvSpPr>
          <p:cNvPr id="8" name="dot1"/>
          <p:cNvSpPr/>
          <p:nvPr/>
        </p:nvSpPr>
        <p:spPr>
          <a:xfrm>
            <a:off x="787400" y="28702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9" name="p1"/>
          <p:cNvSpPr txBox="1"/>
          <p:nvPr/>
        </p:nvSpPr>
        <p:spPr>
          <a:xfrm>
            <a:off x="1117600" y="2819400"/>
            <a:ext cx="546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MCP tool definition-ları OpenAI function tool formatına çevrilir.</a:t>
            </a:r>
            <a:endParaRPr lang="en-US" sz="1400"/>
          </a:p>
        </p:txBody>
      </p:sp>
      <p:sp>
        <p:nvSpPr>
          <p:cNvPr id="10" name="dot2"/>
          <p:cNvSpPr/>
          <p:nvPr/>
        </p:nvSpPr>
        <p:spPr>
          <a:xfrm>
            <a:off x="787400" y="36322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1" name="p2"/>
          <p:cNvSpPr txBox="1"/>
          <p:nvPr/>
        </p:nvSpPr>
        <p:spPr>
          <a:xfrm>
            <a:off x="1117600" y="3581400"/>
            <a:ext cx="546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Model output verir; tool call varsa MCP üzərindən icra olunur.</a:t>
            </a:r>
            <a:endParaRPr lang="en-US" sz="1400"/>
          </a:p>
        </p:txBody>
      </p:sp>
      <p:sp>
        <p:nvSpPr>
          <p:cNvPr id="12" name="dot3"/>
          <p:cNvSpPr/>
          <p:nvPr/>
        </p:nvSpPr>
        <p:spPr>
          <a:xfrm>
            <a:off x="787400" y="43942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3" name="p3"/>
          <p:cNvSpPr txBox="1"/>
          <p:nvPr/>
        </p:nvSpPr>
        <p:spPr>
          <a:xfrm>
            <a:off x="1117600" y="4343400"/>
            <a:ext cx="546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Nəticə modelə qaytarılır — tanış loop mexanizmi.</a:t>
            </a:r>
            <a:endParaRPr lang="en-US" sz="1400"/>
          </a:p>
        </p:txBody>
      </p:sp>
      <p:sp>
        <p:nvSpPr>
          <p:cNvPr id="14" name="code-bg"/>
          <p:cNvSpPr/>
          <p:nvPr/>
        </p:nvSpPr>
        <p:spPr>
          <a:xfrm>
            <a:off x="6858000" y="20574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243B53"/>
          </a:solidFill>
          <a:ln>
            <a:noFill/>
          </a:ln>
        </p:spPr>
      </p:sp>
      <p:sp>
        <p:nvSpPr>
          <p:cNvPr id="15" name="code-tx"/>
          <p:cNvSpPr txBox="1"/>
          <p:nvPr/>
        </p:nvSpPr>
        <p:spPr>
          <a:xfrm>
            <a:off x="7086600" y="2235200"/>
            <a:ext cx="4114800" cy="218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client = MCPClient(url)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tools = await client.list_tools()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oai_tools = convert(tools)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resp = model.run(msgs, oai_tools)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if resp.tool_call:</a:t>
            </a:r>
            <a:endParaRPr lang="en-US" sz="1200"/>
          </a:p>
          <a:p>
            <a:pPr>
              <a:lnSpc>
                <a:spcPct val="145000"/>
              </a:lnSpc>
            </a:pPr>
            <a:r>
              <a:rPr lang="en-US" sz="1200">
                <a:solidFill>
                  <a:srgbClr val="E4ECF4"/>
                </a:solidFill>
                <a:latin typeface="Consolas"/>
                <a:ea typeface="Consolas"/>
              </a:rPr>
              <a:t>  await client.call(...)</a:t>
            </a:r>
            <a:endParaRPr lang="en-US" sz="1200"/>
          </a:p>
        </p:txBody>
      </p:sp>
      <p:sp>
        <p:nvSpPr>
          <p:cNvPr id="16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7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23/25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2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33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HARNESS KOMPONENTLƏRİ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62000" y="7874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02A43"/>
                </a:solidFill>
                <a:latin typeface="MiSans"/>
                <a:ea typeface="MiSans"/>
              </a:rPr>
              <a:t>Skillər — spesifik tapşırıqlar üçün təlimatlar</a:t>
            </a:r>
            <a:endParaRPr lang="en-US" sz="2700"/>
          </a:p>
        </p:txBody>
      </p:sp>
      <p:sp>
        <p:nvSpPr>
          <p:cNvPr id="4" name="num"/>
          <p:cNvSpPr txBox="1"/>
          <p:nvPr/>
        </p:nvSpPr>
        <p:spPr>
          <a:xfrm>
            <a:off x="10668000" y="457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400" b="1">
                <a:solidFill>
                  <a:srgbClr val="F4C95D">
                    <a:alpha val="33333"/>
                  </a:srgbClr>
                </a:solidFill>
                <a:latin typeface="MiSans"/>
                <a:ea typeface="MiSans"/>
              </a:rPr>
              <a:t>24</a:t>
            </a:r>
            <a:endParaRPr lang="en-US" sz="3400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eyJ2aWV3Qm94IjpbMTAwLDEwMF0sInBvaW50cyI6IjAsNTAgMTAwLDUwIiwiY3VydmUiOiJyb3VuZCJ9</pptd:line>
              </p:ext>
            </p:extLst>
          </p:nvPr>
        </p:nvSpPr>
        <p:spPr>
          <a:xfrm>
            <a:off x="762000" y="1701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50"/>
                </a:moveTo>
                <a:lnTo>
                  <a:pt x="100" y="50"/>
                </a:lnTo>
              </a:path>
            </a:pathLst>
          </a:custGeom>
          <a:noFill/>
          <a:ln w="12700" cap="rnd">
            <a:solidFill>
              <a:srgbClr val="D9E2EC"/>
            </a:solidFill>
            <a:round/>
          </a:ln>
        </p:spPr>
      </p:sp>
      <p:sp>
        <p:nvSpPr>
          <p:cNvPr id="6" name="defbar"/>
          <p:cNvSpPr/>
          <p:nvPr/>
        </p:nvSpPr>
        <p:spPr>
          <a:xfrm>
            <a:off x="762000" y="2006600"/>
            <a:ext cx="50800" cy="609600"/>
          </a:xfrm>
          <a:prstGeom prst="rect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7" name="def"/>
          <p:cNvSpPr txBox="1"/>
          <p:nvPr/>
        </p:nvSpPr>
        <p:spPr>
          <a:xfrm>
            <a:off x="965200" y="1981200"/>
            <a:ext cx="1041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Skill</a:t>
            </a:r>
            <a:r>
              <a:rPr lang="en-US" sz="1500">
                <a:solidFill>
                  <a:srgbClr val="102A43"/>
                </a:solidFill>
                <a:latin typeface="MiSans"/>
                <a:ea typeface="MiSans"/>
              </a:rPr>
              <a:t> — spesifik bir iş üçün instruction-lar olan komponent. Ehtiyac olduqda LLM həmin skill-i çağırır və təlimatlara əməl edir.</a:t>
            </a:r>
            <a:endParaRPr lang="en-US" sz="1500"/>
          </a:p>
        </p:txBody>
      </p:sp>
      <p:sp>
        <p:nvSpPr>
          <p:cNvPr id="8" name="ex"/>
          <p:cNvSpPr txBox="1"/>
          <p:nvPr/>
        </p:nvSpPr>
        <p:spPr>
          <a:xfrm>
            <a:off x="762000" y="29464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334E68"/>
                </a:solidFill>
                <a:latin typeface="MiSans"/>
                <a:ea typeface="MiSans"/>
              </a:rPr>
              <a:t>Misal:</a:t>
            </a: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 Port scanning skill-i — LLM port scan lazım olanda skill-i çağırır və addım-addım təlimatları izləyir.</a:t>
            </a:r>
            <a:endParaRPr lang="en-US" sz="1400"/>
          </a:p>
        </p:txBody>
      </p:sp>
      <p:sp>
        <p:nvSpPr>
          <p:cNvPr id="9" name="d"/>
          <p:cNvSpPr txBox="1"/>
          <p:nvPr/>
        </p:nvSpPr>
        <p:spPr>
          <a:xfrm>
            <a:off x="762000" y="3810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Hər skill-in </a:t>
            </a:r>
            <a:r>
              <a:rPr lang="en-US" sz="1400" b="1">
                <a:solidFill>
                  <a:srgbClr val="334E68"/>
                </a:solidFill>
                <a:latin typeface="MiSans"/>
                <a:ea typeface="MiSans"/>
              </a:rPr>
              <a:t>description</a:t>
            </a: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 hissəsi var — nə zaman çağrılacağı və nə ehtiva etdiyi barədə qısa məlumat.</a:t>
            </a:r>
            <a:endParaRPr lang="en-US" sz="1400"/>
          </a:p>
        </p:txBody>
      </p:sp>
      <p:sp>
        <p:nvSpPr>
          <p:cNvPr id="10" name="warn"/>
          <p:cNvSpPr/>
          <p:nvPr/>
        </p:nvSpPr>
        <p:spPr>
          <a:xfrm>
            <a:off x="762000" y="4775200"/>
            <a:ext cx="10668000" cy="8128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>
            <a:noFill/>
          </a:ln>
        </p:spPr>
      </p:sp>
      <p:sp>
        <p:nvSpPr>
          <p:cNvPr id="11" name="wt"/>
          <p:cNvSpPr txBox="1"/>
          <p:nvPr/>
        </p:nvSpPr>
        <p:spPr>
          <a:xfrm>
            <a:off x="1016000" y="4953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b="1">
                <a:solidFill>
                  <a:srgbClr val="102A43"/>
                </a:solidFill>
                <a:latin typeface="MiSans"/>
                <a:ea typeface="MiSans"/>
              </a:rPr>
              <a:t>Diqqət:</a:t>
            </a:r>
            <a:r>
              <a:rPr lang="en-US" sz="1400">
                <a:solidFill>
                  <a:srgbClr val="102A43"/>
                </a:solidFill>
                <a:latin typeface="MiSans"/>
                <a:ea typeface="MiSans"/>
              </a:rPr>
              <a:t> bütün skill description-ları modelə göndərilir — nə qədər çox skill varsa, o qədər çox token yandırırsınız.</a:t>
            </a:r>
            <a:endParaRPr lang="en-US" sz="1400"/>
          </a:p>
        </p:txBody>
      </p:sp>
      <p:sp>
        <p:nvSpPr>
          <p:cNvPr id="12" name="footL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Daxili tədris materialı</a:t>
            </a:r>
            <a:endParaRPr lang="en-US" sz="1000"/>
          </a:p>
        </p:txBody>
      </p:sp>
      <p:sp>
        <p:nvSpPr>
          <p:cNvPr id="13" name="footR"/>
          <p:cNvSpPr txBox="1"/>
          <p:nvPr/>
        </p:nvSpPr>
        <p:spPr>
          <a:xfrm>
            <a:off x="10668000" y="6451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829AB1"/>
                </a:solidFill>
                <a:latin typeface="MiSans"/>
                <a:ea typeface="MiSans"/>
              </a:rPr>
              <a:t>24/25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2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243B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7620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29AB1"/>
                </a:solidFill>
                <a:latin typeface="MiSans"/>
                <a:ea typeface="MiSans"/>
              </a:rPr>
              <a:t>YEKUN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1092200"/>
            <a:ext cx="1016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FBFAF7"/>
                </a:solidFill>
                <a:latin typeface="MiSans"/>
                <a:ea typeface="MiSans"/>
              </a:rPr>
              <a:t>Nə öyrəndik?</a:t>
            </a:r>
            <a:endParaRPr lang="en-US" sz="3200"/>
          </a:p>
        </p:txBody>
      </p:sp>
      <p:sp>
        <p:nvSpPr>
          <p:cNvPr id="4" name="dot0"/>
          <p:cNvSpPr/>
          <p:nvPr/>
        </p:nvSpPr>
        <p:spPr>
          <a:xfrm>
            <a:off x="787400" y="20955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5" name="i0"/>
          <p:cNvSpPr txBox="1"/>
          <p:nvPr/>
        </p:nvSpPr>
        <p:spPr>
          <a:xfrm>
            <a:off x="1117600" y="20320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rgbClr val="E4ECF4"/>
                </a:solidFill>
                <a:latin typeface="MiSans"/>
                <a:ea typeface="MiSans"/>
              </a:rPr>
              <a:t>Süni intellektin prompt mərhələsindən agent sistemlərinə keçidi</a:t>
            </a:r>
            <a:endParaRPr lang="en-US" sz="1500"/>
          </a:p>
        </p:txBody>
      </p:sp>
      <p:sp>
        <p:nvSpPr>
          <p:cNvPr id="6" name="dot1"/>
          <p:cNvSpPr/>
          <p:nvPr/>
        </p:nvSpPr>
        <p:spPr>
          <a:xfrm>
            <a:off x="787400" y="27305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7" name="i1"/>
          <p:cNvSpPr txBox="1"/>
          <p:nvPr/>
        </p:nvSpPr>
        <p:spPr>
          <a:xfrm>
            <a:off x="1117600" y="26670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rgbClr val="E4ECF4"/>
                </a:solidFill>
                <a:latin typeface="MiSans"/>
                <a:ea typeface="MiSans"/>
              </a:rPr>
              <a:t>Context məhdudiyyətləri və Context Engineering anlayışı</a:t>
            </a:r>
            <a:endParaRPr lang="en-US" sz="1500"/>
          </a:p>
        </p:txBody>
      </p:sp>
      <p:sp>
        <p:nvSpPr>
          <p:cNvPr id="8" name="dot2"/>
          <p:cNvSpPr/>
          <p:nvPr/>
        </p:nvSpPr>
        <p:spPr>
          <a:xfrm>
            <a:off x="787400" y="33655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9" name="i2"/>
          <p:cNvSpPr txBox="1"/>
          <p:nvPr/>
        </p:nvSpPr>
        <p:spPr>
          <a:xfrm>
            <a:off x="1117600" y="33020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rgbClr val="E4ECF4"/>
                </a:solidFill>
                <a:latin typeface="MiSans"/>
                <a:ea typeface="MiSans"/>
              </a:rPr>
              <a:t>Structured Output, Function və Tool Calling mexanizmləri</a:t>
            </a:r>
            <a:endParaRPr lang="en-US" sz="1500"/>
          </a:p>
        </p:txBody>
      </p:sp>
      <p:sp>
        <p:nvSpPr>
          <p:cNvPr id="10" name="dot3"/>
          <p:cNvSpPr/>
          <p:nvPr/>
        </p:nvSpPr>
        <p:spPr>
          <a:xfrm>
            <a:off x="787400" y="40005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1" name="i3"/>
          <p:cNvSpPr txBox="1"/>
          <p:nvPr/>
        </p:nvSpPr>
        <p:spPr>
          <a:xfrm>
            <a:off x="1117600" y="39370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rgbClr val="E4ECF4"/>
                </a:solidFill>
                <a:latin typeface="MiSans"/>
                <a:ea typeface="MiSans"/>
              </a:rPr>
              <a:t>Agent loop-u, Approval mexanizmləri və təhlükəsizlik</a:t>
            </a:r>
            <a:endParaRPr lang="en-US" sz="1500"/>
          </a:p>
        </p:txBody>
      </p:sp>
      <p:sp>
        <p:nvSpPr>
          <p:cNvPr id="12" name="dot4"/>
          <p:cNvSpPr/>
          <p:nvPr/>
        </p:nvSpPr>
        <p:spPr>
          <a:xfrm>
            <a:off x="787400" y="46355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3" name="i4"/>
          <p:cNvSpPr txBox="1"/>
          <p:nvPr/>
        </p:nvSpPr>
        <p:spPr>
          <a:xfrm>
            <a:off x="1117600" y="45720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rgbClr val="E4ECF4"/>
                </a:solidFill>
                <a:latin typeface="MiSans"/>
                <a:ea typeface="MiSans"/>
              </a:rPr>
              <a:t>Programmatic Tool Calling və MCP standartları</a:t>
            </a:r>
            <a:endParaRPr lang="en-US" sz="1500"/>
          </a:p>
        </p:txBody>
      </p:sp>
      <p:sp>
        <p:nvSpPr>
          <p:cNvPr id="14" name="dot5"/>
          <p:cNvSpPr/>
          <p:nvPr/>
        </p:nvSpPr>
        <p:spPr>
          <a:xfrm>
            <a:off x="787400" y="5270500"/>
            <a:ext cx="127000" cy="12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5" name="i5"/>
          <p:cNvSpPr txBox="1"/>
          <p:nvPr/>
        </p:nvSpPr>
        <p:spPr>
          <a:xfrm>
            <a:off x="1117600" y="52070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rgbClr val="E4ECF4"/>
                </a:solidFill>
                <a:latin typeface="MiSans"/>
                <a:ea typeface="MiSans"/>
              </a:rPr>
              <a:t>Harness arxitekturası və Skillər anlayışı</a:t>
            </a:r>
            <a:endParaRPr lang="en-US" sz="1500"/>
          </a:p>
        </p:txBody>
      </p:sp>
      <p:sp>
        <p:nvSpPr>
          <p:cNvPr id="16" name="foot"/>
          <p:cNvSpPr txBox="1"/>
          <p:nvPr/>
        </p:nvSpPr>
        <p:spPr>
          <a:xfrm>
            <a:off x="762000" y="59690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29AB1"/>
                </a:solidFill>
                <a:latin typeface="MiSans"/>
                <a:ea typeface="MiSans"/>
              </a:rPr>
              <a:t>Fərid Akifzadə · OSCP · OSED · OSEE</a:t>
            </a:r>
            <a:endParaRPr lang="en-US" sz="1200"/>
          </a:p>
        </p:txBody>
      </p:sp>
    </p:spTree>
  </p:cSld>
  <p:clrMapOvr>
    <a:masterClrMapping/>
  </p:clrMapOvr>
  <p:transition spd="fast" advClick="1">
    <p:checker dir="horz"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Company>Moonshot</Company>
  <Slides>25</Slides>
</Properties>
</file>

<file path=docProps/core.xml><?xml version="1.0" encoding="utf-8"?>
<cp:coreProperties xmlns:cp="http://schemas.openxmlformats.org/package/2006/metadata/core-properties" xmlns:dc="http://purl.org/dc/elements/1.1/">
  <dc:title>Prompt Engineering-dən Agent Sistemlərinə</dc:title>
  <dc:subject>Prompt Engineering-dən Agent Sistemlərinə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{"Label":"Prompt Engineering-dən Agent Sistemlərinə","ContentProducer":"001191110108MACG2KBH8F10000","ProduceID":"19f8560c-cd52-885b-8000-00002e57b534","ReservedCode1":"","ContentPropagator":"001191110108MACG2KBH8F20000","PropagateID":"19f85564-8722-87c9-8000-093c07f49aea","ReservedCode2":""}</vt:lpwstr>
  </property>
</Properties>
</file>